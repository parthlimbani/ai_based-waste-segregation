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Arimo" panose="020B0604020202020204" charset="0"/>
      <p:regular r:id="rId14"/>
      <p:bold r:id="rId15"/>
      <p:italic r:id="rId16"/>
      <p:boldItalic r:id="rId17"/>
    </p:embeddedFont>
    <p:embeddedFont>
      <p:font typeface="Castellar" panose="020A0402060406010301" pitchFamily="18" charset="0"/>
      <p:regular r:id="rId18"/>
    </p:embeddedFont>
    <p:embeddedFont>
      <p:font typeface="Fraunces" panose="020B0604020202020204"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5" roundtripDataSignature="AMtx7mgmHj8fP5cn+/18tPcPV11eDl0AK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2" d="100"/>
          <a:sy n="52" d="100"/>
        </p:scale>
        <p:origin x="850"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customschemas.google.com/relationships/presentationmetadata" Target="meta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 name="Google Shape;154;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1" name="Google Shape;191;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2" name="Google Shape;222;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0" name="Google Shape;240;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4" name="Google Shape;254;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2be2ce19ba8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0" name="Google Shape;280;g2be2ce19ba8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1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1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1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1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1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0"/>
          <p:cNvSpPr>
            <a:spLocks noGrp="1"/>
          </p:cNvSpPr>
          <p:nvPr>
            <p:ph type="pic" idx="2"/>
          </p:nvPr>
        </p:nvSpPr>
        <p:spPr>
          <a:xfrm>
            <a:off x="1792288" y="612775"/>
            <a:ext cx="5486400" cy="4114800"/>
          </a:xfrm>
          <a:prstGeom prst="rect">
            <a:avLst/>
          </a:prstGeom>
          <a:noFill/>
          <a:ln>
            <a:noFill/>
          </a:ln>
        </p:spPr>
      </p:sp>
      <p:sp>
        <p:nvSpPr>
          <p:cNvPr id="64" name="Google Shape;64;p2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A8AFCC"/>
          </a:solidFill>
          <a:ln>
            <a:noFill/>
          </a:ln>
        </p:spPr>
      </p:sp>
      <p:sp>
        <p:nvSpPr>
          <p:cNvPr id="85" name="Google Shape;85;p1"/>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080E26"/>
          </a:solidFill>
          <a:ln>
            <a:noFill/>
          </a:ln>
        </p:spPr>
      </p:sp>
      <p:sp>
        <p:nvSpPr>
          <p:cNvPr id="86" name="Google Shape;86;p1" descr="preencoded.png"/>
          <p:cNvSpPr/>
          <p:nvPr/>
        </p:nvSpPr>
        <p:spPr>
          <a:xfrm>
            <a:off x="0" y="0"/>
            <a:ext cx="6858000" cy="10287000"/>
          </a:xfrm>
          <a:custGeom>
            <a:avLst/>
            <a:gdLst/>
            <a:ahLst/>
            <a:cxnLst/>
            <a:rect l="l" t="t" r="r" b="b"/>
            <a:pathLst>
              <a:path w="6858000" h="10287000" extrusionOk="0">
                <a:moveTo>
                  <a:pt x="0" y="0"/>
                </a:moveTo>
                <a:lnTo>
                  <a:pt x="6858000" y="0"/>
                </a:lnTo>
                <a:lnTo>
                  <a:pt x="6858000" y="10287000"/>
                </a:lnTo>
                <a:lnTo>
                  <a:pt x="0" y="10287000"/>
                </a:lnTo>
                <a:lnTo>
                  <a:pt x="0" y="0"/>
                </a:lnTo>
                <a:close/>
              </a:path>
            </a:pathLst>
          </a:custGeom>
          <a:blipFill rotWithShape="1">
            <a:blip r:embed="rId3">
              <a:alphaModFix/>
            </a:blip>
            <a:stretch>
              <a:fillRect/>
            </a:stretch>
          </a:blipFill>
          <a:ln>
            <a:noFill/>
          </a:ln>
        </p:spPr>
      </p:sp>
      <p:sp>
        <p:nvSpPr>
          <p:cNvPr id="87" name="Google Shape;87;p1"/>
          <p:cNvSpPr txBox="1"/>
          <p:nvPr/>
        </p:nvSpPr>
        <p:spPr>
          <a:xfrm>
            <a:off x="7990939" y="2193459"/>
            <a:ext cx="9164100" cy="2524153"/>
          </a:xfrm>
          <a:prstGeom prst="rect">
            <a:avLst/>
          </a:prstGeom>
          <a:noFill/>
          <a:ln>
            <a:noFill/>
          </a:ln>
        </p:spPr>
        <p:txBody>
          <a:bodyPr spcFirstLastPara="1" wrap="square" lIns="0" tIns="0" rIns="0" bIns="0" anchor="t" anchorCtr="0">
            <a:spAutoFit/>
          </a:bodyPr>
          <a:lstStyle/>
          <a:p>
            <a:pPr marL="0" marR="0" lvl="0" indent="0" algn="l" rtl="0">
              <a:lnSpc>
                <a:spcPct val="124996"/>
              </a:lnSpc>
              <a:spcBef>
                <a:spcPts val="0"/>
              </a:spcBef>
              <a:spcAft>
                <a:spcPts val="0"/>
              </a:spcAft>
              <a:buNone/>
            </a:pPr>
            <a:r>
              <a:rPr lang="en-US" sz="6561" b="0" i="0" u="none" strike="noStrike" cap="none" dirty="0">
                <a:solidFill>
                  <a:srgbClr val="FFFFFF"/>
                </a:solidFill>
                <a:latin typeface="Fraunces"/>
                <a:ea typeface="Fraunces"/>
                <a:cs typeface="Fraunces"/>
                <a:sym typeface="Fraunces"/>
              </a:rPr>
              <a:t>AI-Based Waste Segregation System</a:t>
            </a:r>
            <a:endParaRPr dirty="0"/>
          </a:p>
        </p:txBody>
      </p:sp>
      <p:sp>
        <p:nvSpPr>
          <p:cNvPr id="88" name="Google Shape;88;p1"/>
          <p:cNvSpPr txBox="1"/>
          <p:nvPr/>
        </p:nvSpPr>
        <p:spPr>
          <a:xfrm>
            <a:off x="8175464" y="7710675"/>
            <a:ext cx="9164100" cy="875100"/>
          </a:xfrm>
          <a:prstGeom prst="rect">
            <a:avLst/>
          </a:prstGeom>
          <a:noFill/>
          <a:ln>
            <a:noFill/>
          </a:ln>
        </p:spPr>
        <p:txBody>
          <a:bodyPr spcFirstLastPara="1" wrap="square" lIns="0" tIns="0" rIns="0" bIns="0" anchor="t" anchorCtr="0">
            <a:spAutoFit/>
          </a:bodyPr>
          <a:lstStyle/>
          <a:p>
            <a:pPr marL="0" marR="0" lvl="0" indent="0" algn="l" rtl="0">
              <a:lnSpc>
                <a:spcPct val="159945"/>
              </a:lnSpc>
              <a:spcBef>
                <a:spcPts val="0"/>
              </a:spcBef>
              <a:spcAft>
                <a:spcPts val="0"/>
              </a:spcAft>
              <a:buNone/>
            </a:pPr>
            <a:r>
              <a:rPr lang="en-US" sz="2187" b="0" i="0" u="none" strike="noStrike" cap="none">
                <a:solidFill>
                  <a:srgbClr val="EBECEF"/>
                </a:solidFill>
                <a:latin typeface="Arimo"/>
                <a:ea typeface="Arimo"/>
                <a:cs typeface="Arimo"/>
                <a:sym typeface="Arimo"/>
              </a:rPr>
              <a:t>Introducing an innovative AI-based waste segregation system designed to tackle the challenges of environmental waste management.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A8AFCC"/>
          </a:solidFill>
          <a:ln>
            <a:noFill/>
          </a:ln>
        </p:spPr>
      </p:sp>
      <p:sp>
        <p:nvSpPr>
          <p:cNvPr id="94" name="Google Shape;94;p2"/>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080E26"/>
          </a:solidFill>
          <a:ln>
            <a:noFill/>
          </a:ln>
        </p:spPr>
      </p:sp>
      <p:sp>
        <p:nvSpPr>
          <p:cNvPr id="95" name="Google Shape;95;p2"/>
          <p:cNvSpPr txBox="1"/>
          <p:nvPr/>
        </p:nvSpPr>
        <p:spPr>
          <a:xfrm>
            <a:off x="2638931" y="870525"/>
            <a:ext cx="6760845" cy="805101"/>
          </a:xfrm>
          <a:prstGeom prst="rect">
            <a:avLst/>
          </a:prstGeom>
          <a:noFill/>
          <a:ln>
            <a:noFill/>
          </a:ln>
        </p:spPr>
        <p:txBody>
          <a:bodyPr spcFirstLastPara="1" wrap="square" lIns="0" tIns="0" rIns="0" bIns="0" anchor="t" anchorCtr="0">
            <a:spAutoFit/>
          </a:bodyPr>
          <a:lstStyle/>
          <a:p>
            <a:pPr marL="0" marR="0" lvl="0" indent="0" algn="l" rtl="0">
              <a:lnSpc>
                <a:spcPct val="125004"/>
              </a:lnSpc>
              <a:spcBef>
                <a:spcPts val="0"/>
              </a:spcBef>
              <a:spcAft>
                <a:spcPts val="0"/>
              </a:spcAft>
              <a:buNone/>
            </a:pPr>
            <a:r>
              <a:rPr lang="en-US" sz="5467" b="0" i="0" u="none" strike="noStrike" cap="none">
                <a:solidFill>
                  <a:srgbClr val="FFFFFF"/>
                </a:solidFill>
                <a:latin typeface="Fraunces"/>
                <a:ea typeface="Fraunces"/>
                <a:cs typeface="Fraunces"/>
                <a:sym typeface="Fraunces"/>
              </a:rPr>
              <a:t>Introduction</a:t>
            </a:r>
            <a:endParaRPr/>
          </a:p>
        </p:txBody>
      </p:sp>
      <p:sp>
        <p:nvSpPr>
          <p:cNvPr id="96" name="Google Shape;96;p2"/>
          <p:cNvSpPr txBox="1"/>
          <p:nvPr/>
        </p:nvSpPr>
        <p:spPr>
          <a:xfrm>
            <a:off x="2638931" y="2227242"/>
            <a:ext cx="13010138" cy="1780817"/>
          </a:xfrm>
          <a:prstGeom prst="rect">
            <a:avLst/>
          </a:prstGeom>
          <a:noFill/>
          <a:ln>
            <a:noFill/>
          </a:ln>
        </p:spPr>
        <p:txBody>
          <a:bodyPr spcFirstLastPara="1" wrap="square" lIns="0" tIns="0" rIns="0" bIns="0" anchor="t" anchorCtr="0">
            <a:spAutoFit/>
          </a:bodyPr>
          <a:lstStyle/>
          <a:p>
            <a:pPr marL="0" marR="0" lvl="0" indent="0" algn="l" rtl="0">
              <a:lnSpc>
                <a:spcPct val="159945"/>
              </a:lnSpc>
              <a:spcBef>
                <a:spcPts val="0"/>
              </a:spcBef>
              <a:spcAft>
                <a:spcPts val="0"/>
              </a:spcAft>
              <a:buNone/>
            </a:pPr>
            <a:r>
              <a:rPr lang="en-US" sz="2187" b="0" i="0" u="none" strike="noStrike" cap="none">
                <a:solidFill>
                  <a:srgbClr val="EBECEF"/>
                </a:solidFill>
                <a:latin typeface="Arimo"/>
                <a:ea typeface="Arimo"/>
                <a:cs typeface="Arimo"/>
                <a:sym typeface="Arimo"/>
              </a:rPr>
              <a:t> In this deck, we will discuss the challenges in waste segregation, provide an overview of our AI-based segregation system, explore its system architecture, highlight the advantages of AI for waste segregation, go through the implementation process, present the results and positive impact, and conclude with a call to action.</a:t>
            </a:r>
            <a:endParaRPr/>
          </a:p>
        </p:txBody>
      </p:sp>
      <p:sp>
        <p:nvSpPr>
          <p:cNvPr id="97" name="Google Shape;97;p2"/>
          <p:cNvSpPr txBox="1"/>
          <p:nvPr/>
        </p:nvSpPr>
        <p:spPr>
          <a:xfrm>
            <a:off x="2638931" y="4316641"/>
            <a:ext cx="13010138" cy="2225070"/>
          </a:xfrm>
          <a:prstGeom prst="rect">
            <a:avLst/>
          </a:prstGeom>
          <a:noFill/>
          <a:ln>
            <a:noFill/>
          </a:ln>
        </p:spPr>
        <p:txBody>
          <a:bodyPr spcFirstLastPara="1" wrap="square" lIns="0" tIns="0" rIns="0" bIns="0" anchor="t" anchorCtr="0">
            <a:spAutoFit/>
          </a:bodyPr>
          <a:lstStyle/>
          <a:p>
            <a:pPr marL="0" marR="0" lvl="0" indent="0" algn="l" rtl="0">
              <a:lnSpc>
                <a:spcPct val="159945"/>
              </a:lnSpc>
              <a:spcBef>
                <a:spcPts val="0"/>
              </a:spcBef>
              <a:spcAft>
                <a:spcPts val="0"/>
              </a:spcAft>
              <a:buNone/>
            </a:pPr>
            <a:r>
              <a:rPr lang="en-US" sz="2187" b="0" i="0" u="none" strike="noStrike" cap="none">
                <a:solidFill>
                  <a:srgbClr val="EBECEF"/>
                </a:solidFill>
                <a:latin typeface="Arimo"/>
                <a:ea typeface="Arimo"/>
                <a:cs typeface="Arimo"/>
                <a:sym typeface="Arimo"/>
              </a:rPr>
              <a:t>Waste segregation is an important aspect of proper waste management. However, it can be a challenging and time-consuming task. Our AI-based segregation system aims to address these challenges by leveraging the power of artificial intelligence. By using advanced algorithms and machine learning techniques, our system can accurately identify and separate different types of waste materials, such as plastic, paper, glass, and metal.</a:t>
            </a:r>
            <a:endParaRPr/>
          </a:p>
        </p:txBody>
      </p:sp>
      <p:sp>
        <p:nvSpPr>
          <p:cNvPr id="98" name="Google Shape;98;p2"/>
          <p:cNvSpPr txBox="1"/>
          <p:nvPr/>
        </p:nvSpPr>
        <p:spPr>
          <a:xfrm>
            <a:off x="2638931" y="6850291"/>
            <a:ext cx="13010138" cy="1780817"/>
          </a:xfrm>
          <a:prstGeom prst="rect">
            <a:avLst/>
          </a:prstGeom>
          <a:noFill/>
          <a:ln>
            <a:noFill/>
          </a:ln>
        </p:spPr>
        <p:txBody>
          <a:bodyPr spcFirstLastPara="1" wrap="square" lIns="0" tIns="0" rIns="0" bIns="0" anchor="t" anchorCtr="0">
            <a:spAutoFit/>
          </a:bodyPr>
          <a:lstStyle/>
          <a:p>
            <a:pPr marL="0" marR="0" lvl="0" indent="0" algn="l" rtl="0">
              <a:lnSpc>
                <a:spcPct val="159945"/>
              </a:lnSpc>
              <a:spcBef>
                <a:spcPts val="0"/>
              </a:spcBef>
              <a:spcAft>
                <a:spcPts val="0"/>
              </a:spcAft>
              <a:buNone/>
            </a:pPr>
            <a:r>
              <a:rPr lang="en-US" sz="2187" b="0" i="0" u="none" strike="noStrike" cap="none">
                <a:solidFill>
                  <a:srgbClr val="EBECEF"/>
                </a:solidFill>
                <a:latin typeface="Arimo"/>
                <a:ea typeface="Arimo"/>
                <a:cs typeface="Arimo"/>
                <a:sym typeface="Arimo"/>
              </a:rPr>
              <a:t>In the following slides, we will delve into the details of our AI-based waste segregation system, including its architecture, the benefits it offers over traditional methods, and the positive impact it can have on the environment and society as a whole. We will also provide insights into the implementation process and share the results of our system's performance.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3"/>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A8AFCC"/>
          </a:solidFill>
          <a:ln>
            <a:noFill/>
          </a:ln>
        </p:spPr>
      </p:sp>
      <p:sp>
        <p:nvSpPr>
          <p:cNvPr id="104" name="Google Shape;104;p3"/>
          <p:cNvSpPr/>
          <p:nvPr/>
        </p:nvSpPr>
        <p:spPr>
          <a:xfrm>
            <a:off x="9525"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080E26"/>
          </a:solidFill>
          <a:ln>
            <a:noFill/>
          </a:ln>
        </p:spPr>
      </p:sp>
      <p:sp>
        <p:nvSpPr>
          <p:cNvPr id="105" name="Google Shape;105;p3"/>
          <p:cNvSpPr txBox="1"/>
          <p:nvPr/>
        </p:nvSpPr>
        <p:spPr>
          <a:xfrm>
            <a:off x="2638931" y="906980"/>
            <a:ext cx="10567422" cy="1727129"/>
          </a:xfrm>
          <a:prstGeom prst="rect">
            <a:avLst/>
          </a:prstGeom>
          <a:noFill/>
          <a:ln>
            <a:noFill/>
          </a:ln>
        </p:spPr>
        <p:txBody>
          <a:bodyPr spcFirstLastPara="1" wrap="square" lIns="0" tIns="0" rIns="0" bIns="0" anchor="t" anchorCtr="0">
            <a:spAutoFit/>
          </a:bodyPr>
          <a:lstStyle/>
          <a:p>
            <a:pPr marL="0" marR="0" lvl="0" indent="0" algn="l" rtl="0">
              <a:lnSpc>
                <a:spcPct val="125004"/>
              </a:lnSpc>
              <a:spcBef>
                <a:spcPts val="0"/>
              </a:spcBef>
              <a:spcAft>
                <a:spcPts val="0"/>
              </a:spcAft>
              <a:buNone/>
            </a:pPr>
            <a:r>
              <a:rPr lang="en-US" sz="5467" b="0" i="0" u="none" strike="noStrike" cap="none">
                <a:solidFill>
                  <a:srgbClr val="FFFFFF"/>
                </a:solidFill>
                <a:latin typeface="Fraunces"/>
                <a:ea typeface="Fraunces"/>
                <a:cs typeface="Fraunces"/>
                <a:sym typeface="Fraunces"/>
              </a:rPr>
              <a:t>Challenges in Waste Segregation</a:t>
            </a:r>
            <a:endParaRPr/>
          </a:p>
        </p:txBody>
      </p:sp>
      <p:grpSp>
        <p:nvGrpSpPr>
          <p:cNvPr id="106" name="Google Shape;106;p3"/>
          <p:cNvGrpSpPr/>
          <p:nvPr/>
        </p:nvGrpSpPr>
        <p:grpSpPr>
          <a:xfrm>
            <a:off x="2542729" y="3243709"/>
            <a:ext cx="634461" cy="634461"/>
            <a:chOff x="0" y="0"/>
            <a:chExt cx="845947" cy="845947"/>
          </a:xfrm>
        </p:grpSpPr>
        <p:sp>
          <p:nvSpPr>
            <p:cNvPr id="107" name="Google Shape;107;p3"/>
            <p:cNvSpPr/>
            <p:nvPr/>
          </p:nvSpPr>
          <p:spPr>
            <a:xfrm>
              <a:off x="6350" y="6350"/>
              <a:ext cx="833247" cy="833247"/>
            </a:xfrm>
            <a:custGeom>
              <a:avLst/>
              <a:gdLst/>
              <a:ahLst/>
              <a:cxnLst/>
              <a:rect l="l" t="t" r="r" b="b"/>
              <a:pathLst>
                <a:path w="833247" h="833247" extrusionOk="0">
                  <a:moveTo>
                    <a:pt x="0" y="166624"/>
                  </a:moveTo>
                  <a:cubicBezTo>
                    <a:pt x="0" y="74549"/>
                    <a:pt x="74549" y="0"/>
                    <a:pt x="166624" y="0"/>
                  </a:cubicBezTo>
                  <a:lnTo>
                    <a:pt x="666623" y="0"/>
                  </a:lnTo>
                  <a:cubicBezTo>
                    <a:pt x="758698" y="0"/>
                    <a:pt x="833247" y="74549"/>
                    <a:pt x="833247" y="166624"/>
                  </a:cubicBezTo>
                  <a:lnTo>
                    <a:pt x="833247" y="666623"/>
                  </a:lnTo>
                  <a:cubicBezTo>
                    <a:pt x="833247" y="758698"/>
                    <a:pt x="758698" y="833247"/>
                    <a:pt x="666623" y="833247"/>
                  </a:cubicBezTo>
                  <a:lnTo>
                    <a:pt x="166624" y="833247"/>
                  </a:lnTo>
                  <a:cubicBezTo>
                    <a:pt x="74549" y="833247"/>
                    <a:pt x="0" y="758571"/>
                    <a:pt x="0" y="666623"/>
                  </a:cubicBezTo>
                  <a:close/>
                </a:path>
              </a:pathLst>
            </a:custGeom>
            <a:solidFill>
              <a:srgbClr val="2831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3"/>
            <p:cNvSpPr/>
            <p:nvPr/>
          </p:nvSpPr>
          <p:spPr>
            <a:xfrm>
              <a:off x="0" y="0"/>
              <a:ext cx="845947" cy="845947"/>
            </a:xfrm>
            <a:custGeom>
              <a:avLst/>
              <a:gdLst/>
              <a:ahLst/>
              <a:cxnLst/>
              <a:rect l="l" t="t" r="r" b="b"/>
              <a:pathLst>
                <a:path w="845947" h="845947" extrusionOk="0">
                  <a:moveTo>
                    <a:pt x="0" y="172974"/>
                  </a:moveTo>
                  <a:cubicBezTo>
                    <a:pt x="0" y="77470"/>
                    <a:pt x="77470" y="0"/>
                    <a:pt x="172974" y="0"/>
                  </a:cubicBezTo>
                  <a:lnTo>
                    <a:pt x="672973" y="0"/>
                  </a:lnTo>
                  <a:lnTo>
                    <a:pt x="672973" y="6350"/>
                  </a:lnTo>
                  <a:lnTo>
                    <a:pt x="672973" y="0"/>
                  </a:lnTo>
                  <a:lnTo>
                    <a:pt x="672973" y="6350"/>
                  </a:lnTo>
                  <a:lnTo>
                    <a:pt x="672973" y="0"/>
                  </a:lnTo>
                  <a:cubicBezTo>
                    <a:pt x="768477" y="0"/>
                    <a:pt x="845947" y="77470"/>
                    <a:pt x="845947" y="172974"/>
                  </a:cubicBezTo>
                  <a:lnTo>
                    <a:pt x="839597" y="172974"/>
                  </a:lnTo>
                  <a:lnTo>
                    <a:pt x="845947" y="172974"/>
                  </a:lnTo>
                  <a:lnTo>
                    <a:pt x="845947" y="672973"/>
                  </a:lnTo>
                  <a:lnTo>
                    <a:pt x="839597" y="672973"/>
                  </a:lnTo>
                  <a:lnTo>
                    <a:pt x="845947" y="672973"/>
                  </a:lnTo>
                  <a:cubicBezTo>
                    <a:pt x="845947" y="768477"/>
                    <a:pt x="768477" y="845947"/>
                    <a:pt x="672973" y="845947"/>
                  </a:cubicBezTo>
                  <a:lnTo>
                    <a:pt x="672973" y="839597"/>
                  </a:lnTo>
                  <a:lnTo>
                    <a:pt x="672973" y="845947"/>
                  </a:lnTo>
                  <a:lnTo>
                    <a:pt x="172974" y="845947"/>
                  </a:lnTo>
                  <a:lnTo>
                    <a:pt x="172974" y="839597"/>
                  </a:lnTo>
                  <a:lnTo>
                    <a:pt x="172974" y="845947"/>
                  </a:lnTo>
                  <a:cubicBezTo>
                    <a:pt x="77470" y="845947"/>
                    <a:pt x="0" y="768477"/>
                    <a:pt x="0" y="672973"/>
                  </a:cubicBezTo>
                  <a:lnTo>
                    <a:pt x="0" y="172974"/>
                  </a:lnTo>
                  <a:lnTo>
                    <a:pt x="6350" y="172974"/>
                  </a:lnTo>
                  <a:lnTo>
                    <a:pt x="0" y="172974"/>
                  </a:lnTo>
                  <a:moveTo>
                    <a:pt x="12700" y="172974"/>
                  </a:moveTo>
                  <a:lnTo>
                    <a:pt x="12700" y="672973"/>
                  </a:lnTo>
                  <a:lnTo>
                    <a:pt x="6350" y="672973"/>
                  </a:lnTo>
                  <a:lnTo>
                    <a:pt x="12700" y="672973"/>
                  </a:lnTo>
                  <a:cubicBezTo>
                    <a:pt x="12700" y="761492"/>
                    <a:pt x="84455" y="833247"/>
                    <a:pt x="172974" y="833247"/>
                  </a:cubicBezTo>
                  <a:lnTo>
                    <a:pt x="672973" y="833247"/>
                  </a:lnTo>
                  <a:cubicBezTo>
                    <a:pt x="761492" y="833247"/>
                    <a:pt x="833247" y="761492"/>
                    <a:pt x="833247" y="672973"/>
                  </a:cubicBezTo>
                  <a:lnTo>
                    <a:pt x="833247" y="172974"/>
                  </a:lnTo>
                  <a:cubicBezTo>
                    <a:pt x="833247" y="84455"/>
                    <a:pt x="761492" y="12700"/>
                    <a:pt x="672973" y="12700"/>
                  </a:cubicBezTo>
                  <a:lnTo>
                    <a:pt x="172974" y="12700"/>
                  </a:lnTo>
                  <a:lnTo>
                    <a:pt x="172974" y="6350"/>
                  </a:lnTo>
                  <a:lnTo>
                    <a:pt x="172974" y="12700"/>
                  </a:lnTo>
                  <a:cubicBezTo>
                    <a:pt x="84455" y="12700"/>
                    <a:pt x="12700" y="84455"/>
                    <a:pt x="12700" y="172974"/>
                  </a:cubicBezTo>
                  <a:close/>
                </a:path>
              </a:pathLst>
            </a:custGeom>
            <a:solidFill>
              <a:srgbClr val="414A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 name="Google Shape;109;p3"/>
          <p:cNvSpPr txBox="1"/>
          <p:nvPr/>
        </p:nvSpPr>
        <p:spPr>
          <a:xfrm>
            <a:off x="2855774" y="3327231"/>
            <a:ext cx="8215" cy="448211"/>
          </a:xfrm>
          <a:prstGeom prst="rect">
            <a:avLst/>
          </a:prstGeom>
          <a:noFill/>
          <a:ln>
            <a:noFill/>
          </a:ln>
        </p:spPr>
        <p:txBody>
          <a:bodyPr spcFirstLastPara="1" wrap="square" lIns="0" tIns="0" rIns="0" bIns="0" anchor="t" anchorCtr="0">
            <a:spAutoFit/>
          </a:bodyPr>
          <a:lstStyle/>
          <a:p>
            <a:pPr marL="0" marR="0" lvl="0" indent="0" algn="ctr" rtl="0">
              <a:lnSpc>
                <a:spcPct val="125068"/>
              </a:lnSpc>
              <a:spcBef>
                <a:spcPts val="0"/>
              </a:spcBef>
              <a:spcAft>
                <a:spcPts val="0"/>
              </a:spcAft>
              <a:buNone/>
            </a:pPr>
            <a:r>
              <a:rPr lang="en-US" sz="3279" b="0" i="0" u="none" strike="noStrike" cap="none">
                <a:solidFill>
                  <a:srgbClr val="EBECEF"/>
                </a:solidFill>
                <a:latin typeface="Fraunces"/>
                <a:ea typeface="Fraunces"/>
                <a:cs typeface="Fraunces"/>
                <a:sym typeface="Fraunces"/>
              </a:rPr>
              <a:t>1</a:t>
            </a:r>
            <a:endParaRPr/>
          </a:p>
        </p:txBody>
      </p:sp>
      <p:sp>
        <p:nvSpPr>
          <p:cNvPr id="110" name="Google Shape;110;p3"/>
          <p:cNvSpPr txBox="1"/>
          <p:nvPr/>
        </p:nvSpPr>
        <p:spPr>
          <a:xfrm>
            <a:off x="3541574" y="3370540"/>
            <a:ext cx="3127057" cy="795576"/>
          </a:xfrm>
          <a:prstGeom prst="rect">
            <a:avLst/>
          </a:prstGeom>
          <a:noFill/>
          <a:ln>
            <a:noFill/>
          </a:ln>
        </p:spPr>
        <p:txBody>
          <a:bodyPr spcFirstLastPara="1" wrap="square" lIns="0" tIns="0" rIns="0" bIns="0" anchor="t" anchorCtr="0">
            <a:spAutoFit/>
          </a:bodyPr>
          <a:lstStyle/>
          <a:p>
            <a:pPr marL="0" marR="0" lvl="0" indent="0" algn="l" rtl="0">
              <a:lnSpc>
                <a:spcPct val="125027"/>
              </a:lnSpc>
              <a:spcBef>
                <a:spcPts val="0"/>
              </a:spcBef>
              <a:spcAft>
                <a:spcPts val="0"/>
              </a:spcAft>
              <a:buNone/>
            </a:pPr>
            <a:r>
              <a:rPr lang="en-US" sz="2733" b="0" i="0" u="none" strike="noStrike" cap="none">
                <a:solidFill>
                  <a:srgbClr val="EBECEF"/>
                </a:solidFill>
                <a:latin typeface="Fraunces"/>
                <a:ea typeface="Fraunces"/>
                <a:cs typeface="Fraunces"/>
                <a:sym typeface="Fraunces"/>
              </a:rPr>
              <a:t>Inefficient Processes</a:t>
            </a:r>
            <a:endParaRPr/>
          </a:p>
        </p:txBody>
      </p:sp>
      <p:sp>
        <p:nvSpPr>
          <p:cNvPr id="111" name="Google Shape;111;p3"/>
          <p:cNvSpPr txBox="1"/>
          <p:nvPr/>
        </p:nvSpPr>
        <p:spPr>
          <a:xfrm>
            <a:off x="3541574" y="4467687"/>
            <a:ext cx="3127057" cy="1780817"/>
          </a:xfrm>
          <a:prstGeom prst="rect">
            <a:avLst/>
          </a:prstGeom>
          <a:noFill/>
          <a:ln>
            <a:noFill/>
          </a:ln>
        </p:spPr>
        <p:txBody>
          <a:bodyPr spcFirstLastPara="1" wrap="square" lIns="0" tIns="0" rIns="0" bIns="0" anchor="t" anchorCtr="0">
            <a:spAutoFit/>
          </a:bodyPr>
          <a:lstStyle/>
          <a:p>
            <a:pPr marL="0" marR="0" lvl="0" indent="0" algn="l" rtl="0">
              <a:lnSpc>
                <a:spcPct val="159945"/>
              </a:lnSpc>
              <a:spcBef>
                <a:spcPts val="0"/>
              </a:spcBef>
              <a:spcAft>
                <a:spcPts val="0"/>
              </a:spcAft>
              <a:buNone/>
            </a:pPr>
            <a:r>
              <a:rPr lang="en-US" sz="2187" b="0" i="0" u="none" strike="noStrike" cap="none">
                <a:solidFill>
                  <a:srgbClr val="EBECEF"/>
                </a:solidFill>
                <a:latin typeface="Arimo"/>
                <a:ea typeface="Arimo"/>
                <a:cs typeface="Arimo"/>
                <a:sym typeface="Arimo"/>
              </a:rPr>
              <a:t>Manual waste segregation methods are time-consuming and error-prone.</a:t>
            </a:r>
            <a:endParaRPr/>
          </a:p>
        </p:txBody>
      </p:sp>
      <p:grpSp>
        <p:nvGrpSpPr>
          <p:cNvPr id="112" name="Google Shape;112;p3"/>
          <p:cNvGrpSpPr/>
          <p:nvPr/>
        </p:nvGrpSpPr>
        <p:grpSpPr>
          <a:xfrm>
            <a:off x="7033022" y="3243709"/>
            <a:ext cx="634461" cy="634461"/>
            <a:chOff x="0" y="0"/>
            <a:chExt cx="845947" cy="845947"/>
          </a:xfrm>
        </p:grpSpPr>
        <p:sp>
          <p:nvSpPr>
            <p:cNvPr id="113" name="Google Shape;113;p3"/>
            <p:cNvSpPr/>
            <p:nvPr/>
          </p:nvSpPr>
          <p:spPr>
            <a:xfrm>
              <a:off x="6350" y="6350"/>
              <a:ext cx="833247" cy="833247"/>
            </a:xfrm>
            <a:custGeom>
              <a:avLst/>
              <a:gdLst/>
              <a:ahLst/>
              <a:cxnLst/>
              <a:rect l="l" t="t" r="r" b="b"/>
              <a:pathLst>
                <a:path w="833247" h="833247" extrusionOk="0">
                  <a:moveTo>
                    <a:pt x="0" y="166624"/>
                  </a:moveTo>
                  <a:cubicBezTo>
                    <a:pt x="0" y="74549"/>
                    <a:pt x="74549" y="0"/>
                    <a:pt x="166624" y="0"/>
                  </a:cubicBezTo>
                  <a:lnTo>
                    <a:pt x="666623" y="0"/>
                  </a:lnTo>
                  <a:cubicBezTo>
                    <a:pt x="758698" y="0"/>
                    <a:pt x="833247" y="74549"/>
                    <a:pt x="833247" y="166624"/>
                  </a:cubicBezTo>
                  <a:lnTo>
                    <a:pt x="833247" y="666623"/>
                  </a:lnTo>
                  <a:cubicBezTo>
                    <a:pt x="833247" y="758698"/>
                    <a:pt x="758698" y="833247"/>
                    <a:pt x="666623" y="833247"/>
                  </a:cubicBezTo>
                  <a:lnTo>
                    <a:pt x="166624" y="833247"/>
                  </a:lnTo>
                  <a:cubicBezTo>
                    <a:pt x="74549" y="833247"/>
                    <a:pt x="0" y="758571"/>
                    <a:pt x="0" y="666623"/>
                  </a:cubicBezTo>
                  <a:close/>
                </a:path>
              </a:pathLst>
            </a:custGeom>
            <a:solidFill>
              <a:srgbClr val="2831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3"/>
            <p:cNvSpPr/>
            <p:nvPr/>
          </p:nvSpPr>
          <p:spPr>
            <a:xfrm>
              <a:off x="0" y="0"/>
              <a:ext cx="845947" cy="845947"/>
            </a:xfrm>
            <a:custGeom>
              <a:avLst/>
              <a:gdLst/>
              <a:ahLst/>
              <a:cxnLst/>
              <a:rect l="l" t="t" r="r" b="b"/>
              <a:pathLst>
                <a:path w="845947" h="845947" extrusionOk="0">
                  <a:moveTo>
                    <a:pt x="0" y="172974"/>
                  </a:moveTo>
                  <a:cubicBezTo>
                    <a:pt x="0" y="77470"/>
                    <a:pt x="77470" y="0"/>
                    <a:pt x="172974" y="0"/>
                  </a:cubicBezTo>
                  <a:lnTo>
                    <a:pt x="672973" y="0"/>
                  </a:lnTo>
                  <a:lnTo>
                    <a:pt x="672973" y="6350"/>
                  </a:lnTo>
                  <a:lnTo>
                    <a:pt x="672973" y="0"/>
                  </a:lnTo>
                  <a:lnTo>
                    <a:pt x="672973" y="6350"/>
                  </a:lnTo>
                  <a:lnTo>
                    <a:pt x="672973" y="0"/>
                  </a:lnTo>
                  <a:cubicBezTo>
                    <a:pt x="768477" y="0"/>
                    <a:pt x="845947" y="77470"/>
                    <a:pt x="845947" y="172974"/>
                  </a:cubicBezTo>
                  <a:lnTo>
                    <a:pt x="839597" y="172974"/>
                  </a:lnTo>
                  <a:lnTo>
                    <a:pt x="845947" y="172974"/>
                  </a:lnTo>
                  <a:lnTo>
                    <a:pt x="845947" y="672973"/>
                  </a:lnTo>
                  <a:lnTo>
                    <a:pt x="839597" y="672973"/>
                  </a:lnTo>
                  <a:lnTo>
                    <a:pt x="845947" y="672973"/>
                  </a:lnTo>
                  <a:cubicBezTo>
                    <a:pt x="845947" y="768477"/>
                    <a:pt x="768477" y="845947"/>
                    <a:pt x="672973" y="845947"/>
                  </a:cubicBezTo>
                  <a:lnTo>
                    <a:pt x="672973" y="839597"/>
                  </a:lnTo>
                  <a:lnTo>
                    <a:pt x="672973" y="845947"/>
                  </a:lnTo>
                  <a:lnTo>
                    <a:pt x="172974" y="845947"/>
                  </a:lnTo>
                  <a:lnTo>
                    <a:pt x="172974" y="839597"/>
                  </a:lnTo>
                  <a:lnTo>
                    <a:pt x="172974" y="845947"/>
                  </a:lnTo>
                  <a:cubicBezTo>
                    <a:pt x="77470" y="845947"/>
                    <a:pt x="0" y="768477"/>
                    <a:pt x="0" y="672973"/>
                  </a:cubicBezTo>
                  <a:lnTo>
                    <a:pt x="0" y="172974"/>
                  </a:lnTo>
                  <a:lnTo>
                    <a:pt x="6350" y="172974"/>
                  </a:lnTo>
                  <a:lnTo>
                    <a:pt x="0" y="172974"/>
                  </a:lnTo>
                  <a:moveTo>
                    <a:pt x="12700" y="172974"/>
                  </a:moveTo>
                  <a:lnTo>
                    <a:pt x="12700" y="672973"/>
                  </a:lnTo>
                  <a:lnTo>
                    <a:pt x="6350" y="672973"/>
                  </a:lnTo>
                  <a:lnTo>
                    <a:pt x="12700" y="672973"/>
                  </a:lnTo>
                  <a:cubicBezTo>
                    <a:pt x="12700" y="761492"/>
                    <a:pt x="84455" y="833247"/>
                    <a:pt x="172974" y="833247"/>
                  </a:cubicBezTo>
                  <a:lnTo>
                    <a:pt x="672973" y="833247"/>
                  </a:lnTo>
                  <a:cubicBezTo>
                    <a:pt x="761492" y="833247"/>
                    <a:pt x="833247" y="761492"/>
                    <a:pt x="833247" y="672973"/>
                  </a:cubicBezTo>
                  <a:lnTo>
                    <a:pt x="833247" y="172974"/>
                  </a:lnTo>
                  <a:cubicBezTo>
                    <a:pt x="833247" y="84455"/>
                    <a:pt x="761492" y="12700"/>
                    <a:pt x="672973" y="12700"/>
                  </a:cubicBezTo>
                  <a:lnTo>
                    <a:pt x="172974" y="12700"/>
                  </a:lnTo>
                  <a:lnTo>
                    <a:pt x="172974" y="6350"/>
                  </a:lnTo>
                  <a:lnTo>
                    <a:pt x="172974" y="12700"/>
                  </a:lnTo>
                  <a:cubicBezTo>
                    <a:pt x="84455" y="12700"/>
                    <a:pt x="12700" y="84455"/>
                    <a:pt x="12700" y="172974"/>
                  </a:cubicBezTo>
                  <a:close/>
                </a:path>
              </a:pathLst>
            </a:custGeom>
            <a:solidFill>
              <a:srgbClr val="414A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 name="Google Shape;115;p3"/>
          <p:cNvSpPr txBox="1"/>
          <p:nvPr/>
        </p:nvSpPr>
        <p:spPr>
          <a:xfrm>
            <a:off x="7315409" y="3327231"/>
            <a:ext cx="69681" cy="448211"/>
          </a:xfrm>
          <a:prstGeom prst="rect">
            <a:avLst/>
          </a:prstGeom>
          <a:noFill/>
          <a:ln>
            <a:noFill/>
          </a:ln>
        </p:spPr>
        <p:txBody>
          <a:bodyPr spcFirstLastPara="1" wrap="square" lIns="0" tIns="0" rIns="0" bIns="0" anchor="t" anchorCtr="0">
            <a:spAutoFit/>
          </a:bodyPr>
          <a:lstStyle/>
          <a:p>
            <a:pPr marL="0" marR="0" lvl="0" indent="0" algn="ctr" rtl="0">
              <a:lnSpc>
                <a:spcPct val="125068"/>
              </a:lnSpc>
              <a:spcBef>
                <a:spcPts val="0"/>
              </a:spcBef>
              <a:spcAft>
                <a:spcPts val="0"/>
              </a:spcAft>
              <a:buNone/>
            </a:pPr>
            <a:r>
              <a:rPr lang="en-US" sz="3279" b="0" i="0" u="none" strike="noStrike" cap="none">
                <a:solidFill>
                  <a:srgbClr val="EBECEF"/>
                </a:solidFill>
                <a:latin typeface="Fraunces"/>
                <a:ea typeface="Fraunces"/>
                <a:cs typeface="Fraunces"/>
                <a:sym typeface="Fraunces"/>
              </a:rPr>
              <a:t>2</a:t>
            </a:r>
            <a:endParaRPr/>
          </a:p>
        </p:txBody>
      </p:sp>
      <p:sp>
        <p:nvSpPr>
          <p:cNvPr id="116" name="Google Shape;116;p3"/>
          <p:cNvSpPr txBox="1"/>
          <p:nvPr/>
        </p:nvSpPr>
        <p:spPr>
          <a:xfrm>
            <a:off x="8031867" y="3370540"/>
            <a:ext cx="3127057" cy="795576"/>
          </a:xfrm>
          <a:prstGeom prst="rect">
            <a:avLst/>
          </a:prstGeom>
          <a:noFill/>
          <a:ln>
            <a:noFill/>
          </a:ln>
        </p:spPr>
        <p:txBody>
          <a:bodyPr spcFirstLastPara="1" wrap="square" lIns="0" tIns="0" rIns="0" bIns="0" anchor="t" anchorCtr="0">
            <a:spAutoFit/>
          </a:bodyPr>
          <a:lstStyle/>
          <a:p>
            <a:pPr marL="0" marR="0" lvl="0" indent="0" algn="l" rtl="0">
              <a:lnSpc>
                <a:spcPct val="125027"/>
              </a:lnSpc>
              <a:spcBef>
                <a:spcPts val="0"/>
              </a:spcBef>
              <a:spcAft>
                <a:spcPts val="0"/>
              </a:spcAft>
              <a:buNone/>
            </a:pPr>
            <a:r>
              <a:rPr lang="en-US" sz="2733" b="0" i="0" u="none" strike="noStrike" cap="none">
                <a:solidFill>
                  <a:srgbClr val="EBECEF"/>
                </a:solidFill>
                <a:latin typeface="Fraunces"/>
                <a:ea typeface="Fraunces"/>
                <a:cs typeface="Fraunces"/>
                <a:sym typeface="Fraunces"/>
              </a:rPr>
              <a:t>Environmental Impact</a:t>
            </a:r>
            <a:endParaRPr/>
          </a:p>
        </p:txBody>
      </p:sp>
      <p:sp>
        <p:nvSpPr>
          <p:cNvPr id="117" name="Google Shape;117;p3"/>
          <p:cNvSpPr txBox="1"/>
          <p:nvPr/>
        </p:nvSpPr>
        <p:spPr>
          <a:xfrm>
            <a:off x="8003202" y="4467687"/>
            <a:ext cx="3127057" cy="1780817"/>
          </a:xfrm>
          <a:prstGeom prst="rect">
            <a:avLst/>
          </a:prstGeom>
          <a:noFill/>
          <a:ln>
            <a:noFill/>
          </a:ln>
        </p:spPr>
        <p:txBody>
          <a:bodyPr spcFirstLastPara="1" wrap="square" lIns="0" tIns="0" rIns="0" bIns="0" anchor="t" anchorCtr="0">
            <a:spAutoFit/>
          </a:bodyPr>
          <a:lstStyle/>
          <a:p>
            <a:pPr marL="0" marR="0" lvl="0" indent="0" algn="l" rtl="0">
              <a:lnSpc>
                <a:spcPct val="159945"/>
              </a:lnSpc>
              <a:spcBef>
                <a:spcPts val="0"/>
              </a:spcBef>
              <a:spcAft>
                <a:spcPts val="0"/>
              </a:spcAft>
              <a:buNone/>
            </a:pPr>
            <a:r>
              <a:rPr lang="en-US" sz="2187" b="0" i="0" u="none" strike="noStrike" cap="none">
                <a:solidFill>
                  <a:srgbClr val="EBECEF"/>
                </a:solidFill>
                <a:latin typeface="Arimo"/>
                <a:ea typeface="Arimo"/>
                <a:cs typeface="Arimo"/>
                <a:sym typeface="Arimo"/>
              </a:rPr>
              <a:t>Mixed waste contributes to pollution and affects natural ecosystems.</a:t>
            </a:r>
            <a:endParaRPr/>
          </a:p>
        </p:txBody>
      </p:sp>
      <p:grpSp>
        <p:nvGrpSpPr>
          <p:cNvPr id="118" name="Google Shape;118;p3"/>
          <p:cNvGrpSpPr/>
          <p:nvPr/>
        </p:nvGrpSpPr>
        <p:grpSpPr>
          <a:xfrm>
            <a:off x="11523315" y="3243709"/>
            <a:ext cx="634461" cy="634461"/>
            <a:chOff x="0" y="0"/>
            <a:chExt cx="845947" cy="845947"/>
          </a:xfrm>
        </p:grpSpPr>
        <p:sp>
          <p:nvSpPr>
            <p:cNvPr id="119" name="Google Shape;119;p3"/>
            <p:cNvSpPr/>
            <p:nvPr/>
          </p:nvSpPr>
          <p:spPr>
            <a:xfrm>
              <a:off x="6350" y="6350"/>
              <a:ext cx="833247" cy="833247"/>
            </a:xfrm>
            <a:custGeom>
              <a:avLst/>
              <a:gdLst/>
              <a:ahLst/>
              <a:cxnLst/>
              <a:rect l="l" t="t" r="r" b="b"/>
              <a:pathLst>
                <a:path w="833247" h="833247" extrusionOk="0">
                  <a:moveTo>
                    <a:pt x="0" y="166624"/>
                  </a:moveTo>
                  <a:cubicBezTo>
                    <a:pt x="0" y="74549"/>
                    <a:pt x="74549" y="0"/>
                    <a:pt x="166624" y="0"/>
                  </a:cubicBezTo>
                  <a:lnTo>
                    <a:pt x="666623" y="0"/>
                  </a:lnTo>
                  <a:cubicBezTo>
                    <a:pt x="758698" y="0"/>
                    <a:pt x="833247" y="74549"/>
                    <a:pt x="833247" y="166624"/>
                  </a:cubicBezTo>
                  <a:lnTo>
                    <a:pt x="833247" y="666623"/>
                  </a:lnTo>
                  <a:cubicBezTo>
                    <a:pt x="833247" y="758698"/>
                    <a:pt x="758698" y="833247"/>
                    <a:pt x="666623" y="833247"/>
                  </a:cubicBezTo>
                  <a:lnTo>
                    <a:pt x="166624" y="833247"/>
                  </a:lnTo>
                  <a:cubicBezTo>
                    <a:pt x="74549" y="833247"/>
                    <a:pt x="0" y="758571"/>
                    <a:pt x="0" y="666623"/>
                  </a:cubicBezTo>
                  <a:close/>
                </a:path>
              </a:pathLst>
            </a:custGeom>
            <a:solidFill>
              <a:srgbClr val="2831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3"/>
            <p:cNvSpPr/>
            <p:nvPr/>
          </p:nvSpPr>
          <p:spPr>
            <a:xfrm>
              <a:off x="0" y="0"/>
              <a:ext cx="845947" cy="845947"/>
            </a:xfrm>
            <a:custGeom>
              <a:avLst/>
              <a:gdLst/>
              <a:ahLst/>
              <a:cxnLst/>
              <a:rect l="l" t="t" r="r" b="b"/>
              <a:pathLst>
                <a:path w="845947" h="845947" extrusionOk="0">
                  <a:moveTo>
                    <a:pt x="0" y="172974"/>
                  </a:moveTo>
                  <a:cubicBezTo>
                    <a:pt x="0" y="77470"/>
                    <a:pt x="77470" y="0"/>
                    <a:pt x="172974" y="0"/>
                  </a:cubicBezTo>
                  <a:lnTo>
                    <a:pt x="672973" y="0"/>
                  </a:lnTo>
                  <a:lnTo>
                    <a:pt x="672973" y="6350"/>
                  </a:lnTo>
                  <a:lnTo>
                    <a:pt x="672973" y="0"/>
                  </a:lnTo>
                  <a:lnTo>
                    <a:pt x="672973" y="6350"/>
                  </a:lnTo>
                  <a:lnTo>
                    <a:pt x="672973" y="0"/>
                  </a:lnTo>
                  <a:cubicBezTo>
                    <a:pt x="768477" y="0"/>
                    <a:pt x="845947" y="77470"/>
                    <a:pt x="845947" y="172974"/>
                  </a:cubicBezTo>
                  <a:lnTo>
                    <a:pt x="839597" y="172974"/>
                  </a:lnTo>
                  <a:lnTo>
                    <a:pt x="845947" y="172974"/>
                  </a:lnTo>
                  <a:lnTo>
                    <a:pt x="845947" y="672973"/>
                  </a:lnTo>
                  <a:lnTo>
                    <a:pt x="839597" y="672973"/>
                  </a:lnTo>
                  <a:lnTo>
                    <a:pt x="845947" y="672973"/>
                  </a:lnTo>
                  <a:cubicBezTo>
                    <a:pt x="845947" y="768477"/>
                    <a:pt x="768477" y="845947"/>
                    <a:pt x="672973" y="845947"/>
                  </a:cubicBezTo>
                  <a:lnTo>
                    <a:pt x="672973" y="839597"/>
                  </a:lnTo>
                  <a:lnTo>
                    <a:pt x="672973" y="845947"/>
                  </a:lnTo>
                  <a:lnTo>
                    <a:pt x="172974" y="845947"/>
                  </a:lnTo>
                  <a:lnTo>
                    <a:pt x="172974" y="839597"/>
                  </a:lnTo>
                  <a:lnTo>
                    <a:pt x="172974" y="845947"/>
                  </a:lnTo>
                  <a:cubicBezTo>
                    <a:pt x="77470" y="845947"/>
                    <a:pt x="0" y="768477"/>
                    <a:pt x="0" y="672973"/>
                  </a:cubicBezTo>
                  <a:lnTo>
                    <a:pt x="0" y="172974"/>
                  </a:lnTo>
                  <a:lnTo>
                    <a:pt x="6350" y="172974"/>
                  </a:lnTo>
                  <a:lnTo>
                    <a:pt x="0" y="172974"/>
                  </a:lnTo>
                  <a:moveTo>
                    <a:pt x="12700" y="172974"/>
                  </a:moveTo>
                  <a:lnTo>
                    <a:pt x="12700" y="672973"/>
                  </a:lnTo>
                  <a:lnTo>
                    <a:pt x="6350" y="672973"/>
                  </a:lnTo>
                  <a:lnTo>
                    <a:pt x="12700" y="672973"/>
                  </a:lnTo>
                  <a:cubicBezTo>
                    <a:pt x="12700" y="761492"/>
                    <a:pt x="84455" y="833247"/>
                    <a:pt x="172974" y="833247"/>
                  </a:cubicBezTo>
                  <a:lnTo>
                    <a:pt x="672973" y="833247"/>
                  </a:lnTo>
                  <a:cubicBezTo>
                    <a:pt x="761492" y="833247"/>
                    <a:pt x="833247" y="761492"/>
                    <a:pt x="833247" y="672973"/>
                  </a:cubicBezTo>
                  <a:lnTo>
                    <a:pt x="833247" y="172974"/>
                  </a:lnTo>
                  <a:cubicBezTo>
                    <a:pt x="833247" y="84455"/>
                    <a:pt x="761492" y="12700"/>
                    <a:pt x="672973" y="12700"/>
                  </a:cubicBezTo>
                  <a:lnTo>
                    <a:pt x="172974" y="12700"/>
                  </a:lnTo>
                  <a:lnTo>
                    <a:pt x="172974" y="6350"/>
                  </a:lnTo>
                  <a:lnTo>
                    <a:pt x="172974" y="12700"/>
                  </a:lnTo>
                  <a:cubicBezTo>
                    <a:pt x="84455" y="12700"/>
                    <a:pt x="12700" y="84455"/>
                    <a:pt x="12700" y="172974"/>
                  </a:cubicBezTo>
                  <a:close/>
                </a:path>
              </a:pathLst>
            </a:custGeom>
            <a:solidFill>
              <a:srgbClr val="414A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1" name="Google Shape;121;p3"/>
          <p:cNvSpPr txBox="1"/>
          <p:nvPr/>
        </p:nvSpPr>
        <p:spPr>
          <a:xfrm>
            <a:off x="11816864" y="3327231"/>
            <a:ext cx="47209" cy="448211"/>
          </a:xfrm>
          <a:prstGeom prst="rect">
            <a:avLst/>
          </a:prstGeom>
          <a:noFill/>
          <a:ln>
            <a:noFill/>
          </a:ln>
        </p:spPr>
        <p:txBody>
          <a:bodyPr spcFirstLastPara="1" wrap="square" lIns="0" tIns="0" rIns="0" bIns="0" anchor="t" anchorCtr="0">
            <a:spAutoFit/>
          </a:bodyPr>
          <a:lstStyle/>
          <a:p>
            <a:pPr marL="0" marR="0" lvl="0" indent="0" algn="ctr" rtl="0">
              <a:lnSpc>
                <a:spcPct val="125068"/>
              </a:lnSpc>
              <a:spcBef>
                <a:spcPts val="0"/>
              </a:spcBef>
              <a:spcAft>
                <a:spcPts val="0"/>
              </a:spcAft>
              <a:buNone/>
            </a:pPr>
            <a:r>
              <a:rPr lang="en-US" sz="3279" b="0" i="0" u="none" strike="noStrike" cap="none">
                <a:solidFill>
                  <a:srgbClr val="EBECEF"/>
                </a:solidFill>
                <a:latin typeface="Fraunces"/>
                <a:ea typeface="Fraunces"/>
                <a:cs typeface="Fraunces"/>
                <a:sym typeface="Fraunces"/>
              </a:rPr>
              <a:t>3</a:t>
            </a:r>
            <a:endParaRPr/>
          </a:p>
        </p:txBody>
      </p:sp>
      <p:sp>
        <p:nvSpPr>
          <p:cNvPr id="122" name="Google Shape;122;p3"/>
          <p:cNvSpPr txBox="1"/>
          <p:nvPr/>
        </p:nvSpPr>
        <p:spPr>
          <a:xfrm>
            <a:off x="12522160" y="3370540"/>
            <a:ext cx="3127057" cy="361593"/>
          </a:xfrm>
          <a:prstGeom prst="rect">
            <a:avLst/>
          </a:prstGeom>
          <a:noFill/>
          <a:ln>
            <a:noFill/>
          </a:ln>
        </p:spPr>
        <p:txBody>
          <a:bodyPr spcFirstLastPara="1" wrap="square" lIns="0" tIns="0" rIns="0" bIns="0" anchor="t" anchorCtr="0">
            <a:spAutoFit/>
          </a:bodyPr>
          <a:lstStyle/>
          <a:p>
            <a:pPr marL="0" marR="0" lvl="0" indent="0" algn="l" rtl="0">
              <a:lnSpc>
                <a:spcPct val="125027"/>
              </a:lnSpc>
              <a:spcBef>
                <a:spcPts val="0"/>
              </a:spcBef>
              <a:spcAft>
                <a:spcPts val="0"/>
              </a:spcAft>
              <a:buNone/>
            </a:pPr>
            <a:r>
              <a:rPr lang="en-US" sz="2733" b="0" i="0" u="none" strike="noStrike" cap="none">
                <a:solidFill>
                  <a:srgbClr val="EBECEF"/>
                </a:solidFill>
                <a:latin typeface="Fraunces"/>
                <a:ea typeface="Fraunces"/>
                <a:cs typeface="Fraunces"/>
                <a:sym typeface="Fraunces"/>
              </a:rPr>
              <a:t>Lack of Awareness</a:t>
            </a:r>
            <a:endParaRPr/>
          </a:p>
        </p:txBody>
      </p:sp>
      <p:sp>
        <p:nvSpPr>
          <p:cNvPr id="123" name="Google Shape;123;p3"/>
          <p:cNvSpPr txBox="1"/>
          <p:nvPr/>
        </p:nvSpPr>
        <p:spPr>
          <a:xfrm>
            <a:off x="12522160" y="4353164"/>
            <a:ext cx="3127057" cy="1780817"/>
          </a:xfrm>
          <a:prstGeom prst="rect">
            <a:avLst/>
          </a:prstGeom>
          <a:noFill/>
          <a:ln>
            <a:noFill/>
          </a:ln>
        </p:spPr>
        <p:txBody>
          <a:bodyPr spcFirstLastPara="1" wrap="square" lIns="0" tIns="0" rIns="0" bIns="0" anchor="t" anchorCtr="0">
            <a:spAutoFit/>
          </a:bodyPr>
          <a:lstStyle/>
          <a:p>
            <a:pPr marL="0" marR="0" lvl="0" indent="0" algn="l" rtl="0">
              <a:lnSpc>
                <a:spcPct val="159945"/>
              </a:lnSpc>
              <a:spcBef>
                <a:spcPts val="0"/>
              </a:spcBef>
              <a:spcAft>
                <a:spcPts val="0"/>
              </a:spcAft>
              <a:buNone/>
            </a:pPr>
            <a:r>
              <a:rPr lang="en-US" sz="2187" b="0" i="0" u="none" strike="noStrike" cap="none">
                <a:solidFill>
                  <a:srgbClr val="EBECEF"/>
                </a:solidFill>
                <a:latin typeface="Arimo"/>
                <a:ea typeface="Arimo"/>
                <a:cs typeface="Arimo"/>
                <a:sym typeface="Arimo"/>
              </a:rPr>
              <a:t>Many individuals are unaware of the importance of proper waste segregation.</a:t>
            </a:r>
            <a:endParaRPr/>
          </a:p>
        </p:txBody>
      </p:sp>
      <p:grpSp>
        <p:nvGrpSpPr>
          <p:cNvPr id="124" name="Google Shape;124;p3"/>
          <p:cNvGrpSpPr/>
          <p:nvPr/>
        </p:nvGrpSpPr>
        <p:grpSpPr>
          <a:xfrm>
            <a:off x="2542729" y="6645325"/>
            <a:ext cx="634461" cy="634461"/>
            <a:chOff x="0" y="0"/>
            <a:chExt cx="845947" cy="845947"/>
          </a:xfrm>
        </p:grpSpPr>
        <p:sp>
          <p:nvSpPr>
            <p:cNvPr id="125" name="Google Shape;125;p3"/>
            <p:cNvSpPr/>
            <p:nvPr/>
          </p:nvSpPr>
          <p:spPr>
            <a:xfrm>
              <a:off x="6350" y="6350"/>
              <a:ext cx="833247" cy="833247"/>
            </a:xfrm>
            <a:custGeom>
              <a:avLst/>
              <a:gdLst/>
              <a:ahLst/>
              <a:cxnLst/>
              <a:rect l="l" t="t" r="r" b="b"/>
              <a:pathLst>
                <a:path w="833247" h="833247" extrusionOk="0">
                  <a:moveTo>
                    <a:pt x="0" y="166624"/>
                  </a:moveTo>
                  <a:cubicBezTo>
                    <a:pt x="0" y="74549"/>
                    <a:pt x="74549" y="0"/>
                    <a:pt x="166624" y="0"/>
                  </a:cubicBezTo>
                  <a:lnTo>
                    <a:pt x="666623" y="0"/>
                  </a:lnTo>
                  <a:cubicBezTo>
                    <a:pt x="758698" y="0"/>
                    <a:pt x="833247" y="74549"/>
                    <a:pt x="833247" y="166624"/>
                  </a:cubicBezTo>
                  <a:lnTo>
                    <a:pt x="833247" y="666623"/>
                  </a:lnTo>
                  <a:cubicBezTo>
                    <a:pt x="833247" y="758698"/>
                    <a:pt x="758698" y="833247"/>
                    <a:pt x="666623" y="833247"/>
                  </a:cubicBezTo>
                  <a:lnTo>
                    <a:pt x="166624" y="833247"/>
                  </a:lnTo>
                  <a:cubicBezTo>
                    <a:pt x="74549" y="833247"/>
                    <a:pt x="0" y="758571"/>
                    <a:pt x="0" y="666623"/>
                  </a:cubicBezTo>
                  <a:close/>
                </a:path>
              </a:pathLst>
            </a:custGeom>
            <a:solidFill>
              <a:srgbClr val="2831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3"/>
            <p:cNvSpPr/>
            <p:nvPr/>
          </p:nvSpPr>
          <p:spPr>
            <a:xfrm>
              <a:off x="0" y="0"/>
              <a:ext cx="845947" cy="845947"/>
            </a:xfrm>
            <a:custGeom>
              <a:avLst/>
              <a:gdLst/>
              <a:ahLst/>
              <a:cxnLst/>
              <a:rect l="l" t="t" r="r" b="b"/>
              <a:pathLst>
                <a:path w="845947" h="845947" extrusionOk="0">
                  <a:moveTo>
                    <a:pt x="0" y="172974"/>
                  </a:moveTo>
                  <a:cubicBezTo>
                    <a:pt x="0" y="77470"/>
                    <a:pt x="77470" y="0"/>
                    <a:pt x="172974" y="0"/>
                  </a:cubicBezTo>
                  <a:lnTo>
                    <a:pt x="672973" y="0"/>
                  </a:lnTo>
                  <a:lnTo>
                    <a:pt x="672973" y="6350"/>
                  </a:lnTo>
                  <a:lnTo>
                    <a:pt x="672973" y="0"/>
                  </a:lnTo>
                  <a:lnTo>
                    <a:pt x="672973" y="6350"/>
                  </a:lnTo>
                  <a:lnTo>
                    <a:pt x="672973" y="0"/>
                  </a:lnTo>
                  <a:cubicBezTo>
                    <a:pt x="768477" y="0"/>
                    <a:pt x="845947" y="77470"/>
                    <a:pt x="845947" y="172974"/>
                  </a:cubicBezTo>
                  <a:lnTo>
                    <a:pt x="839597" y="172974"/>
                  </a:lnTo>
                  <a:lnTo>
                    <a:pt x="845947" y="172974"/>
                  </a:lnTo>
                  <a:lnTo>
                    <a:pt x="845947" y="672973"/>
                  </a:lnTo>
                  <a:lnTo>
                    <a:pt x="839597" y="672973"/>
                  </a:lnTo>
                  <a:lnTo>
                    <a:pt x="845947" y="672973"/>
                  </a:lnTo>
                  <a:cubicBezTo>
                    <a:pt x="845947" y="768477"/>
                    <a:pt x="768477" y="845947"/>
                    <a:pt x="672973" y="845947"/>
                  </a:cubicBezTo>
                  <a:lnTo>
                    <a:pt x="672973" y="839597"/>
                  </a:lnTo>
                  <a:lnTo>
                    <a:pt x="672973" y="845947"/>
                  </a:lnTo>
                  <a:lnTo>
                    <a:pt x="172974" y="845947"/>
                  </a:lnTo>
                  <a:lnTo>
                    <a:pt x="172974" y="839597"/>
                  </a:lnTo>
                  <a:lnTo>
                    <a:pt x="172974" y="845947"/>
                  </a:lnTo>
                  <a:cubicBezTo>
                    <a:pt x="77470" y="845947"/>
                    <a:pt x="0" y="768477"/>
                    <a:pt x="0" y="672973"/>
                  </a:cubicBezTo>
                  <a:lnTo>
                    <a:pt x="0" y="172974"/>
                  </a:lnTo>
                  <a:lnTo>
                    <a:pt x="6350" y="172974"/>
                  </a:lnTo>
                  <a:lnTo>
                    <a:pt x="0" y="172974"/>
                  </a:lnTo>
                  <a:moveTo>
                    <a:pt x="12700" y="172974"/>
                  </a:moveTo>
                  <a:lnTo>
                    <a:pt x="12700" y="672973"/>
                  </a:lnTo>
                  <a:lnTo>
                    <a:pt x="6350" y="672973"/>
                  </a:lnTo>
                  <a:lnTo>
                    <a:pt x="12700" y="672973"/>
                  </a:lnTo>
                  <a:cubicBezTo>
                    <a:pt x="12700" y="761492"/>
                    <a:pt x="84455" y="833247"/>
                    <a:pt x="172974" y="833247"/>
                  </a:cubicBezTo>
                  <a:lnTo>
                    <a:pt x="672973" y="833247"/>
                  </a:lnTo>
                  <a:cubicBezTo>
                    <a:pt x="761492" y="833247"/>
                    <a:pt x="833247" y="761492"/>
                    <a:pt x="833247" y="672973"/>
                  </a:cubicBezTo>
                  <a:lnTo>
                    <a:pt x="833247" y="172974"/>
                  </a:lnTo>
                  <a:cubicBezTo>
                    <a:pt x="833247" y="84455"/>
                    <a:pt x="761492" y="12700"/>
                    <a:pt x="672973" y="12700"/>
                  </a:cubicBezTo>
                  <a:lnTo>
                    <a:pt x="172974" y="12700"/>
                  </a:lnTo>
                  <a:lnTo>
                    <a:pt x="172974" y="6350"/>
                  </a:lnTo>
                  <a:lnTo>
                    <a:pt x="172974" y="12700"/>
                  </a:lnTo>
                  <a:cubicBezTo>
                    <a:pt x="84455" y="12700"/>
                    <a:pt x="12700" y="84455"/>
                    <a:pt x="12700" y="172974"/>
                  </a:cubicBezTo>
                  <a:close/>
                </a:path>
              </a:pathLst>
            </a:custGeom>
            <a:solidFill>
              <a:srgbClr val="414A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7" name="Google Shape;127;p3"/>
          <p:cNvSpPr txBox="1"/>
          <p:nvPr/>
        </p:nvSpPr>
        <p:spPr>
          <a:xfrm>
            <a:off x="2823925" y="6728847"/>
            <a:ext cx="71914" cy="448211"/>
          </a:xfrm>
          <a:prstGeom prst="rect">
            <a:avLst/>
          </a:prstGeom>
          <a:noFill/>
          <a:ln>
            <a:noFill/>
          </a:ln>
        </p:spPr>
        <p:txBody>
          <a:bodyPr spcFirstLastPara="1" wrap="square" lIns="0" tIns="0" rIns="0" bIns="0" anchor="t" anchorCtr="0">
            <a:spAutoFit/>
          </a:bodyPr>
          <a:lstStyle/>
          <a:p>
            <a:pPr marL="0" marR="0" lvl="0" indent="0" algn="ctr" rtl="0">
              <a:lnSpc>
                <a:spcPct val="125068"/>
              </a:lnSpc>
              <a:spcBef>
                <a:spcPts val="0"/>
              </a:spcBef>
              <a:spcAft>
                <a:spcPts val="0"/>
              </a:spcAft>
              <a:buNone/>
            </a:pPr>
            <a:r>
              <a:rPr lang="en-US" sz="3279" b="0" i="0" u="none" strike="noStrike" cap="none">
                <a:solidFill>
                  <a:srgbClr val="EBECEF"/>
                </a:solidFill>
                <a:latin typeface="Fraunces"/>
                <a:ea typeface="Fraunces"/>
                <a:cs typeface="Fraunces"/>
                <a:sym typeface="Fraunces"/>
              </a:rPr>
              <a:t>4</a:t>
            </a:r>
            <a:endParaRPr/>
          </a:p>
        </p:txBody>
      </p:sp>
      <p:sp>
        <p:nvSpPr>
          <p:cNvPr id="128" name="Google Shape;128;p3"/>
          <p:cNvSpPr txBox="1"/>
          <p:nvPr/>
        </p:nvSpPr>
        <p:spPr>
          <a:xfrm>
            <a:off x="3744040" y="6815466"/>
            <a:ext cx="3288982" cy="361593"/>
          </a:xfrm>
          <a:prstGeom prst="rect">
            <a:avLst/>
          </a:prstGeom>
          <a:noFill/>
          <a:ln>
            <a:noFill/>
          </a:ln>
        </p:spPr>
        <p:txBody>
          <a:bodyPr spcFirstLastPara="1" wrap="square" lIns="0" tIns="0" rIns="0" bIns="0" anchor="t" anchorCtr="0">
            <a:spAutoFit/>
          </a:bodyPr>
          <a:lstStyle/>
          <a:p>
            <a:pPr marL="0" marR="0" lvl="0" indent="0" algn="l" rtl="0">
              <a:lnSpc>
                <a:spcPct val="125027"/>
              </a:lnSpc>
              <a:spcBef>
                <a:spcPts val="0"/>
              </a:spcBef>
              <a:spcAft>
                <a:spcPts val="0"/>
              </a:spcAft>
              <a:buNone/>
            </a:pPr>
            <a:r>
              <a:rPr lang="en-US" sz="2733" b="0" i="0" u="none" strike="noStrike" cap="none">
                <a:solidFill>
                  <a:srgbClr val="EBECEF"/>
                </a:solidFill>
                <a:latin typeface="Fraunces"/>
                <a:ea typeface="Fraunces"/>
                <a:cs typeface="Fraunces"/>
                <a:sym typeface="Fraunces"/>
              </a:rPr>
              <a:t>Limited Resources</a:t>
            </a:r>
            <a:endParaRPr/>
          </a:p>
        </p:txBody>
      </p:sp>
      <p:sp>
        <p:nvSpPr>
          <p:cNvPr id="129" name="Google Shape;129;p3"/>
          <p:cNvSpPr txBox="1"/>
          <p:nvPr/>
        </p:nvSpPr>
        <p:spPr>
          <a:xfrm>
            <a:off x="3541574" y="7871415"/>
            <a:ext cx="5372130" cy="892314"/>
          </a:xfrm>
          <a:prstGeom prst="rect">
            <a:avLst/>
          </a:prstGeom>
          <a:noFill/>
          <a:ln>
            <a:noFill/>
          </a:ln>
        </p:spPr>
        <p:txBody>
          <a:bodyPr spcFirstLastPara="1" wrap="square" lIns="0" tIns="0" rIns="0" bIns="0" anchor="t" anchorCtr="0">
            <a:spAutoFit/>
          </a:bodyPr>
          <a:lstStyle/>
          <a:p>
            <a:pPr marL="0" marR="0" lvl="0" indent="0" algn="l" rtl="0">
              <a:lnSpc>
                <a:spcPct val="159945"/>
              </a:lnSpc>
              <a:spcBef>
                <a:spcPts val="0"/>
              </a:spcBef>
              <a:spcAft>
                <a:spcPts val="0"/>
              </a:spcAft>
              <a:buNone/>
            </a:pPr>
            <a:r>
              <a:rPr lang="en-US" sz="2187" b="0" i="0" u="none" strike="noStrike" cap="none">
                <a:solidFill>
                  <a:srgbClr val="EBECEF"/>
                </a:solidFill>
                <a:latin typeface="Arimo"/>
                <a:ea typeface="Arimo"/>
                <a:cs typeface="Arimo"/>
                <a:sym typeface="Arimo"/>
              </a:rPr>
              <a:t>Insufficient infrastructure and funding hinder effective waste segregation.</a:t>
            </a:r>
            <a:endParaRPr/>
          </a:p>
        </p:txBody>
      </p:sp>
      <p:grpSp>
        <p:nvGrpSpPr>
          <p:cNvPr id="130" name="Google Shape;130;p3"/>
          <p:cNvGrpSpPr/>
          <p:nvPr/>
        </p:nvGrpSpPr>
        <p:grpSpPr>
          <a:xfrm>
            <a:off x="9278094" y="6645325"/>
            <a:ext cx="634461" cy="634461"/>
            <a:chOff x="0" y="0"/>
            <a:chExt cx="845947" cy="845947"/>
          </a:xfrm>
        </p:grpSpPr>
        <p:sp>
          <p:nvSpPr>
            <p:cNvPr id="131" name="Google Shape;131;p3"/>
            <p:cNvSpPr/>
            <p:nvPr/>
          </p:nvSpPr>
          <p:spPr>
            <a:xfrm>
              <a:off x="6350" y="6350"/>
              <a:ext cx="833247" cy="833247"/>
            </a:xfrm>
            <a:custGeom>
              <a:avLst/>
              <a:gdLst/>
              <a:ahLst/>
              <a:cxnLst/>
              <a:rect l="l" t="t" r="r" b="b"/>
              <a:pathLst>
                <a:path w="833247" h="833247" extrusionOk="0">
                  <a:moveTo>
                    <a:pt x="0" y="166624"/>
                  </a:moveTo>
                  <a:cubicBezTo>
                    <a:pt x="0" y="74549"/>
                    <a:pt x="74549" y="0"/>
                    <a:pt x="166624" y="0"/>
                  </a:cubicBezTo>
                  <a:lnTo>
                    <a:pt x="666623" y="0"/>
                  </a:lnTo>
                  <a:cubicBezTo>
                    <a:pt x="758698" y="0"/>
                    <a:pt x="833247" y="74549"/>
                    <a:pt x="833247" y="166624"/>
                  </a:cubicBezTo>
                  <a:lnTo>
                    <a:pt x="833247" y="666623"/>
                  </a:lnTo>
                  <a:cubicBezTo>
                    <a:pt x="833247" y="758698"/>
                    <a:pt x="758698" y="833247"/>
                    <a:pt x="666623" y="833247"/>
                  </a:cubicBezTo>
                  <a:lnTo>
                    <a:pt x="166624" y="833247"/>
                  </a:lnTo>
                  <a:cubicBezTo>
                    <a:pt x="74549" y="833247"/>
                    <a:pt x="0" y="758571"/>
                    <a:pt x="0" y="666623"/>
                  </a:cubicBezTo>
                  <a:close/>
                </a:path>
              </a:pathLst>
            </a:custGeom>
            <a:solidFill>
              <a:srgbClr val="2831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3"/>
            <p:cNvSpPr/>
            <p:nvPr/>
          </p:nvSpPr>
          <p:spPr>
            <a:xfrm>
              <a:off x="0" y="0"/>
              <a:ext cx="845947" cy="845947"/>
            </a:xfrm>
            <a:custGeom>
              <a:avLst/>
              <a:gdLst/>
              <a:ahLst/>
              <a:cxnLst/>
              <a:rect l="l" t="t" r="r" b="b"/>
              <a:pathLst>
                <a:path w="845947" h="845947" extrusionOk="0">
                  <a:moveTo>
                    <a:pt x="0" y="172974"/>
                  </a:moveTo>
                  <a:cubicBezTo>
                    <a:pt x="0" y="77470"/>
                    <a:pt x="77470" y="0"/>
                    <a:pt x="172974" y="0"/>
                  </a:cubicBezTo>
                  <a:lnTo>
                    <a:pt x="672973" y="0"/>
                  </a:lnTo>
                  <a:lnTo>
                    <a:pt x="672973" y="6350"/>
                  </a:lnTo>
                  <a:lnTo>
                    <a:pt x="672973" y="0"/>
                  </a:lnTo>
                  <a:lnTo>
                    <a:pt x="672973" y="6350"/>
                  </a:lnTo>
                  <a:lnTo>
                    <a:pt x="672973" y="0"/>
                  </a:lnTo>
                  <a:cubicBezTo>
                    <a:pt x="768477" y="0"/>
                    <a:pt x="845947" y="77470"/>
                    <a:pt x="845947" y="172974"/>
                  </a:cubicBezTo>
                  <a:lnTo>
                    <a:pt x="839597" y="172974"/>
                  </a:lnTo>
                  <a:lnTo>
                    <a:pt x="845947" y="172974"/>
                  </a:lnTo>
                  <a:lnTo>
                    <a:pt x="845947" y="672973"/>
                  </a:lnTo>
                  <a:lnTo>
                    <a:pt x="839597" y="672973"/>
                  </a:lnTo>
                  <a:lnTo>
                    <a:pt x="845947" y="672973"/>
                  </a:lnTo>
                  <a:cubicBezTo>
                    <a:pt x="845947" y="768477"/>
                    <a:pt x="768477" y="845947"/>
                    <a:pt x="672973" y="845947"/>
                  </a:cubicBezTo>
                  <a:lnTo>
                    <a:pt x="672973" y="839597"/>
                  </a:lnTo>
                  <a:lnTo>
                    <a:pt x="672973" y="845947"/>
                  </a:lnTo>
                  <a:lnTo>
                    <a:pt x="172974" y="845947"/>
                  </a:lnTo>
                  <a:lnTo>
                    <a:pt x="172974" y="839597"/>
                  </a:lnTo>
                  <a:lnTo>
                    <a:pt x="172974" y="845947"/>
                  </a:lnTo>
                  <a:cubicBezTo>
                    <a:pt x="77470" y="845947"/>
                    <a:pt x="0" y="768477"/>
                    <a:pt x="0" y="672973"/>
                  </a:cubicBezTo>
                  <a:lnTo>
                    <a:pt x="0" y="172974"/>
                  </a:lnTo>
                  <a:lnTo>
                    <a:pt x="6350" y="172974"/>
                  </a:lnTo>
                  <a:lnTo>
                    <a:pt x="0" y="172974"/>
                  </a:lnTo>
                  <a:moveTo>
                    <a:pt x="12700" y="172974"/>
                  </a:moveTo>
                  <a:lnTo>
                    <a:pt x="12700" y="672973"/>
                  </a:lnTo>
                  <a:lnTo>
                    <a:pt x="6350" y="672973"/>
                  </a:lnTo>
                  <a:lnTo>
                    <a:pt x="12700" y="672973"/>
                  </a:lnTo>
                  <a:cubicBezTo>
                    <a:pt x="12700" y="761492"/>
                    <a:pt x="84455" y="833247"/>
                    <a:pt x="172974" y="833247"/>
                  </a:cubicBezTo>
                  <a:lnTo>
                    <a:pt x="672973" y="833247"/>
                  </a:lnTo>
                  <a:cubicBezTo>
                    <a:pt x="761492" y="833247"/>
                    <a:pt x="833247" y="761492"/>
                    <a:pt x="833247" y="672973"/>
                  </a:cubicBezTo>
                  <a:lnTo>
                    <a:pt x="833247" y="172974"/>
                  </a:lnTo>
                  <a:cubicBezTo>
                    <a:pt x="833247" y="84455"/>
                    <a:pt x="761492" y="12700"/>
                    <a:pt x="672973" y="12700"/>
                  </a:cubicBezTo>
                  <a:lnTo>
                    <a:pt x="172974" y="12700"/>
                  </a:lnTo>
                  <a:lnTo>
                    <a:pt x="172974" y="6350"/>
                  </a:lnTo>
                  <a:lnTo>
                    <a:pt x="172974" y="12700"/>
                  </a:lnTo>
                  <a:cubicBezTo>
                    <a:pt x="84455" y="12700"/>
                    <a:pt x="12700" y="84455"/>
                    <a:pt x="12700" y="172974"/>
                  </a:cubicBezTo>
                  <a:close/>
                </a:path>
              </a:pathLst>
            </a:custGeom>
            <a:solidFill>
              <a:srgbClr val="414A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3" name="Google Shape;133;p3"/>
          <p:cNvSpPr txBox="1"/>
          <p:nvPr/>
        </p:nvSpPr>
        <p:spPr>
          <a:xfrm>
            <a:off x="9566731" y="6728847"/>
            <a:ext cx="57180" cy="448211"/>
          </a:xfrm>
          <a:prstGeom prst="rect">
            <a:avLst/>
          </a:prstGeom>
          <a:noFill/>
          <a:ln>
            <a:noFill/>
          </a:ln>
        </p:spPr>
        <p:txBody>
          <a:bodyPr spcFirstLastPara="1" wrap="square" lIns="0" tIns="0" rIns="0" bIns="0" anchor="t" anchorCtr="0">
            <a:spAutoFit/>
          </a:bodyPr>
          <a:lstStyle/>
          <a:p>
            <a:pPr marL="0" marR="0" lvl="0" indent="0" algn="ctr" rtl="0">
              <a:lnSpc>
                <a:spcPct val="125068"/>
              </a:lnSpc>
              <a:spcBef>
                <a:spcPts val="0"/>
              </a:spcBef>
              <a:spcAft>
                <a:spcPts val="0"/>
              </a:spcAft>
              <a:buNone/>
            </a:pPr>
            <a:r>
              <a:rPr lang="en-US" sz="3279" b="0" i="0" u="none" strike="noStrike" cap="none">
                <a:solidFill>
                  <a:srgbClr val="EBECEF"/>
                </a:solidFill>
                <a:latin typeface="Fraunces"/>
                <a:ea typeface="Fraunces"/>
                <a:cs typeface="Fraunces"/>
                <a:sym typeface="Fraunces"/>
              </a:rPr>
              <a:t>5</a:t>
            </a:r>
            <a:endParaRPr/>
          </a:p>
        </p:txBody>
      </p:sp>
      <p:sp>
        <p:nvSpPr>
          <p:cNvPr id="134" name="Google Shape;134;p3"/>
          <p:cNvSpPr txBox="1"/>
          <p:nvPr/>
        </p:nvSpPr>
        <p:spPr>
          <a:xfrm>
            <a:off x="10276939" y="6772156"/>
            <a:ext cx="3510439" cy="361593"/>
          </a:xfrm>
          <a:prstGeom prst="rect">
            <a:avLst/>
          </a:prstGeom>
          <a:noFill/>
          <a:ln>
            <a:noFill/>
          </a:ln>
        </p:spPr>
        <p:txBody>
          <a:bodyPr spcFirstLastPara="1" wrap="square" lIns="0" tIns="0" rIns="0" bIns="0" anchor="t" anchorCtr="0">
            <a:spAutoFit/>
          </a:bodyPr>
          <a:lstStyle/>
          <a:p>
            <a:pPr marL="0" marR="0" lvl="0" indent="0" algn="l" rtl="0">
              <a:lnSpc>
                <a:spcPct val="125027"/>
              </a:lnSpc>
              <a:spcBef>
                <a:spcPts val="0"/>
              </a:spcBef>
              <a:spcAft>
                <a:spcPts val="0"/>
              </a:spcAft>
              <a:buNone/>
            </a:pPr>
            <a:r>
              <a:rPr lang="en-US" sz="2733" b="0" i="0" u="none" strike="noStrike" cap="none">
                <a:solidFill>
                  <a:srgbClr val="EBECEF"/>
                </a:solidFill>
                <a:latin typeface="Fraunces"/>
                <a:ea typeface="Fraunces"/>
                <a:cs typeface="Fraunces"/>
                <a:sym typeface="Fraunces"/>
              </a:rPr>
              <a:t>Behavioral Challenges</a:t>
            </a:r>
            <a:endParaRPr/>
          </a:p>
        </p:txBody>
      </p:sp>
      <p:sp>
        <p:nvSpPr>
          <p:cNvPr id="135" name="Google Shape;135;p3"/>
          <p:cNvSpPr txBox="1"/>
          <p:nvPr/>
        </p:nvSpPr>
        <p:spPr>
          <a:xfrm>
            <a:off x="10277088" y="7871415"/>
            <a:ext cx="5372130" cy="1336566"/>
          </a:xfrm>
          <a:prstGeom prst="rect">
            <a:avLst/>
          </a:prstGeom>
          <a:noFill/>
          <a:ln>
            <a:noFill/>
          </a:ln>
        </p:spPr>
        <p:txBody>
          <a:bodyPr spcFirstLastPara="1" wrap="square" lIns="0" tIns="0" rIns="0" bIns="0" anchor="t" anchorCtr="0">
            <a:spAutoFit/>
          </a:bodyPr>
          <a:lstStyle/>
          <a:p>
            <a:pPr marL="0" marR="0" lvl="0" indent="0" algn="l" rtl="0">
              <a:lnSpc>
                <a:spcPct val="159945"/>
              </a:lnSpc>
              <a:spcBef>
                <a:spcPts val="0"/>
              </a:spcBef>
              <a:spcAft>
                <a:spcPts val="0"/>
              </a:spcAft>
              <a:buNone/>
            </a:pPr>
            <a:r>
              <a:rPr lang="en-US" sz="2187" b="0" i="0" u="none" strike="noStrike" cap="none">
                <a:solidFill>
                  <a:srgbClr val="EBECEF"/>
                </a:solidFill>
                <a:latin typeface="Arimo"/>
                <a:ea typeface="Arimo"/>
                <a:cs typeface="Arimo"/>
                <a:sym typeface="Arimo"/>
              </a:rPr>
              <a:t>Changing people's habits and attitudes towards waste segregation is a challenge.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4"/>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A8AFCC"/>
          </a:solidFill>
          <a:ln>
            <a:noFill/>
          </a:ln>
        </p:spPr>
      </p:sp>
      <p:sp>
        <p:nvSpPr>
          <p:cNvPr id="141" name="Google Shape;141;p4"/>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080E26"/>
          </a:solidFill>
          <a:ln>
            <a:noFill/>
          </a:ln>
        </p:spPr>
      </p:sp>
      <p:sp>
        <p:nvSpPr>
          <p:cNvPr id="142" name="Google Shape;142;p4"/>
          <p:cNvSpPr txBox="1"/>
          <p:nvPr/>
        </p:nvSpPr>
        <p:spPr>
          <a:xfrm>
            <a:off x="2638931" y="1710950"/>
            <a:ext cx="12870091" cy="1727129"/>
          </a:xfrm>
          <a:prstGeom prst="rect">
            <a:avLst/>
          </a:prstGeom>
          <a:noFill/>
          <a:ln>
            <a:noFill/>
          </a:ln>
        </p:spPr>
        <p:txBody>
          <a:bodyPr spcFirstLastPara="1" wrap="square" lIns="0" tIns="0" rIns="0" bIns="0" anchor="t" anchorCtr="0">
            <a:spAutoFit/>
          </a:bodyPr>
          <a:lstStyle/>
          <a:p>
            <a:pPr marL="0" marR="0" lvl="0" indent="0" algn="l" rtl="0">
              <a:lnSpc>
                <a:spcPct val="125004"/>
              </a:lnSpc>
              <a:spcBef>
                <a:spcPts val="0"/>
              </a:spcBef>
              <a:spcAft>
                <a:spcPts val="0"/>
              </a:spcAft>
              <a:buNone/>
            </a:pPr>
            <a:r>
              <a:rPr lang="en-US" sz="5467" b="0" i="0" u="none" strike="noStrike" cap="none">
                <a:solidFill>
                  <a:srgbClr val="FFFFFF"/>
                </a:solidFill>
                <a:latin typeface="Fraunces"/>
                <a:ea typeface="Fraunces"/>
                <a:cs typeface="Fraunces"/>
                <a:sym typeface="Fraunces"/>
              </a:rPr>
              <a:t>AI-Based Segregation System Overview</a:t>
            </a:r>
            <a:endParaRPr/>
          </a:p>
        </p:txBody>
      </p:sp>
      <p:sp>
        <p:nvSpPr>
          <p:cNvPr id="143" name="Google Shape;143;p4"/>
          <p:cNvSpPr txBox="1"/>
          <p:nvPr/>
        </p:nvSpPr>
        <p:spPr>
          <a:xfrm>
            <a:off x="2638931" y="3961954"/>
            <a:ext cx="3288982" cy="361593"/>
          </a:xfrm>
          <a:prstGeom prst="rect">
            <a:avLst/>
          </a:prstGeom>
          <a:noFill/>
          <a:ln>
            <a:noFill/>
          </a:ln>
        </p:spPr>
        <p:txBody>
          <a:bodyPr spcFirstLastPara="1" wrap="square" lIns="0" tIns="0" rIns="0" bIns="0" anchor="t" anchorCtr="0">
            <a:spAutoFit/>
          </a:bodyPr>
          <a:lstStyle/>
          <a:p>
            <a:pPr marL="0" marR="0" lvl="0" indent="0" algn="l" rtl="0">
              <a:lnSpc>
                <a:spcPct val="125027"/>
              </a:lnSpc>
              <a:spcBef>
                <a:spcPts val="0"/>
              </a:spcBef>
              <a:spcAft>
                <a:spcPts val="0"/>
              </a:spcAft>
              <a:buNone/>
            </a:pPr>
            <a:r>
              <a:rPr lang="en-US" sz="2733" b="0" i="0" u="none" strike="noStrike" cap="none">
                <a:solidFill>
                  <a:srgbClr val="FFFFFF"/>
                </a:solidFill>
                <a:latin typeface="Fraunces"/>
                <a:ea typeface="Fraunces"/>
                <a:cs typeface="Fraunces"/>
                <a:sym typeface="Fraunces"/>
              </a:rPr>
              <a:t>Automated Sorting</a:t>
            </a:r>
            <a:endParaRPr/>
          </a:p>
        </p:txBody>
      </p:sp>
      <p:sp>
        <p:nvSpPr>
          <p:cNvPr id="144" name="Google Shape;144;p4"/>
          <p:cNvSpPr txBox="1"/>
          <p:nvPr/>
        </p:nvSpPr>
        <p:spPr>
          <a:xfrm>
            <a:off x="2638931" y="4838075"/>
            <a:ext cx="3762554" cy="1336566"/>
          </a:xfrm>
          <a:prstGeom prst="rect">
            <a:avLst/>
          </a:prstGeom>
          <a:noFill/>
          <a:ln>
            <a:noFill/>
          </a:ln>
        </p:spPr>
        <p:txBody>
          <a:bodyPr spcFirstLastPara="1" wrap="square" lIns="0" tIns="0" rIns="0" bIns="0" anchor="t" anchorCtr="0">
            <a:spAutoFit/>
          </a:bodyPr>
          <a:lstStyle/>
          <a:p>
            <a:pPr marL="0" marR="0" lvl="0" indent="0" algn="l" rtl="0">
              <a:lnSpc>
                <a:spcPct val="159945"/>
              </a:lnSpc>
              <a:spcBef>
                <a:spcPts val="0"/>
              </a:spcBef>
              <a:spcAft>
                <a:spcPts val="0"/>
              </a:spcAft>
              <a:buNone/>
            </a:pPr>
            <a:r>
              <a:rPr lang="en-US" sz="2187" b="0" i="0" u="none" strike="noStrike" cap="none">
                <a:solidFill>
                  <a:srgbClr val="EBECEF"/>
                </a:solidFill>
                <a:latin typeface="Arimo"/>
                <a:ea typeface="Arimo"/>
                <a:cs typeface="Arimo"/>
                <a:sym typeface="Arimo"/>
              </a:rPr>
              <a:t>Utilizes advanced algorithms to automatically categorize different types of waste.</a:t>
            </a:r>
            <a:endParaRPr/>
          </a:p>
        </p:txBody>
      </p:sp>
      <p:sp>
        <p:nvSpPr>
          <p:cNvPr id="145" name="Google Shape;145;p4"/>
          <p:cNvSpPr txBox="1"/>
          <p:nvPr/>
        </p:nvSpPr>
        <p:spPr>
          <a:xfrm>
            <a:off x="2638931" y="6598806"/>
            <a:ext cx="3762554" cy="1336566"/>
          </a:xfrm>
          <a:prstGeom prst="rect">
            <a:avLst/>
          </a:prstGeom>
          <a:noFill/>
          <a:ln>
            <a:noFill/>
          </a:ln>
        </p:spPr>
        <p:txBody>
          <a:bodyPr spcFirstLastPara="1" wrap="square" lIns="0" tIns="0" rIns="0" bIns="0" anchor="t" anchorCtr="0">
            <a:spAutoFit/>
          </a:bodyPr>
          <a:lstStyle/>
          <a:p>
            <a:pPr marL="0" marR="0" lvl="0" indent="0" algn="l" rtl="0">
              <a:lnSpc>
                <a:spcPct val="159945"/>
              </a:lnSpc>
              <a:spcBef>
                <a:spcPts val="0"/>
              </a:spcBef>
              <a:spcAft>
                <a:spcPts val="0"/>
              </a:spcAft>
              <a:buNone/>
            </a:pPr>
            <a:r>
              <a:rPr lang="en-US" sz="2187" b="0" i="0" u="none" strike="noStrike" cap="none">
                <a:solidFill>
                  <a:srgbClr val="EBECEF"/>
                </a:solidFill>
                <a:latin typeface="Arimo"/>
                <a:ea typeface="Arimo"/>
                <a:cs typeface="Arimo"/>
                <a:sym typeface="Arimo"/>
              </a:rPr>
              <a:t>This helps in saving time and effort required for manual sorting.</a:t>
            </a:r>
            <a:endParaRPr/>
          </a:p>
        </p:txBody>
      </p:sp>
      <p:sp>
        <p:nvSpPr>
          <p:cNvPr id="146" name="Google Shape;146;p4"/>
          <p:cNvSpPr txBox="1"/>
          <p:nvPr/>
        </p:nvSpPr>
        <p:spPr>
          <a:xfrm>
            <a:off x="7271356" y="3961954"/>
            <a:ext cx="3288982" cy="361593"/>
          </a:xfrm>
          <a:prstGeom prst="rect">
            <a:avLst/>
          </a:prstGeom>
          <a:noFill/>
          <a:ln>
            <a:noFill/>
          </a:ln>
        </p:spPr>
        <p:txBody>
          <a:bodyPr spcFirstLastPara="1" wrap="square" lIns="0" tIns="0" rIns="0" bIns="0" anchor="t" anchorCtr="0">
            <a:spAutoFit/>
          </a:bodyPr>
          <a:lstStyle/>
          <a:p>
            <a:pPr marL="0" marR="0" lvl="0" indent="0" algn="l" rtl="0">
              <a:lnSpc>
                <a:spcPct val="125027"/>
              </a:lnSpc>
              <a:spcBef>
                <a:spcPts val="0"/>
              </a:spcBef>
              <a:spcAft>
                <a:spcPts val="0"/>
              </a:spcAft>
              <a:buNone/>
            </a:pPr>
            <a:r>
              <a:rPr lang="en-US" sz="2733" b="0" i="0" u="none" strike="noStrike" cap="none">
                <a:solidFill>
                  <a:srgbClr val="FFFFFF"/>
                </a:solidFill>
                <a:latin typeface="Fraunces"/>
                <a:ea typeface="Fraunces"/>
                <a:cs typeface="Fraunces"/>
                <a:sym typeface="Fraunces"/>
              </a:rPr>
              <a:t>Data Processing</a:t>
            </a:r>
            <a:endParaRPr/>
          </a:p>
        </p:txBody>
      </p:sp>
      <p:sp>
        <p:nvSpPr>
          <p:cNvPr id="147" name="Google Shape;147;p4"/>
          <p:cNvSpPr txBox="1"/>
          <p:nvPr/>
        </p:nvSpPr>
        <p:spPr>
          <a:xfrm>
            <a:off x="7271355" y="4838075"/>
            <a:ext cx="3762554" cy="1336566"/>
          </a:xfrm>
          <a:prstGeom prst="rect">
            <a:avLst/>
          </a:prstGeom>
          <a:noFill/>
          <a:ln>
            <a:noFill/>
          </a:ln>
        </p:spPr>
        <p:txBody>
          <a:bodyPr spcFirstLastPara="1" wrap="square" lIns="0" tIns="0" rIns="0" bIns="0" anchor="t" anchorCtr="0">
            <a:spAutoFit/>
          </a:bodyPr>
          <a:lstStyle/>
          <a:p>
            <a:pPr marL="0" marR="0" lvl="0" indent="0" algn="l" rtl="0">
              <a:lnSpc>
                <a:spcPct val="159945"/>
              </a:lnSpc>
              <a:spcBef>
                <a:spcPts val="0"/>
              </a:spcBef>
              <a:spcAft>
                <a:spcPts val="0"/>
              </a:spcAft>
              <a:buNone/>
            </a:pPr>
            <a:r>
              <a:rPr lang="en-US" sz="2187" b="0" i="0" u="none" strike="noStrike" cap="none">
                <a:solidFill>
                  <a:srgbClr val="EBECEF"/>
                </a:solidFill>
                <a:latin typeface="Arimo"/>
                <a:ea typeface="Arimo"/>
                <a:cs typeface="Arimo"/>
                <a:sym typeface="Arimo"/>
              </a:rPr>
              <a:t>Analyzes various attributes of waste items for efficient segregation.</a:t>
            </a:r>
            <a:endParaRPr/>
          </a:p>
        </p:txBody>
      </p:sp>
      <p:sp>
        <p:nvSpPr>
          <p:cNvPr id="148" name="Google Shape;148;p4"/>
          <p:cNvSpPr txBox="1"/>
          <p:nvPr/>
        </p:nvSpPr>
        <p:spPr>
          <a:xfrm>
            <a:off x="7192700" y="6598806"/>
            <a:ext cx="3762554" cy="1780817"/>
          </a:xfrm>
          <a:prstGeom prst="rect">
            <a:avLst/>
          </a:prstGeom>
          <a:noFill/>
          <a:ln>
            <a:noFill/>
          </a:ln>
        </p:spPr>
        <p:txBody>
          <a:bodyPr spcFirstLastPara="1" wrap="square" lIns="0" tIns="0" rIns="0" bIns="0" anchor="t" anchorCtr="0">
            <a:spAutoFit/>
          </a:bodyPr>
          <a:lstStyle/>
          <a:p>
            <a:pPr marL="0" marR="0" lvl="0" indent="0" algn="l" rtl="0">
              <a:lnSpc>
                <a:spcPct val="159945"/>
              </a:lnSpc>
              <a:spcBef>
                <a:spcPts val="0"/>
              </a:spcBef>
              <a:spcAft>
                <a:spcPts val="0"/>
              </a:spcAft>
              <a:buNone/>
            </a:pPr>
            <a:r>
              <a:rPr lang="en-US" sz="2187" b="0" i="0" u="none" strike="noStrike" cap="none">
                <a:solidFill>
                  <a:srgbClr val="EBECEF"/>
                </a:solidFill>
                <a:latin typeface="Arimo"/>
                <a:ea typeface="Arimo"/>
                <a:cs typeface="Arimo"/>
                <a:sym typeface="Arimo"/>
              </a:rPr>
              <a:t>By analyzing data, the system can make accurate decisions on waste classification.</a:t>
            </a:r>
            <a:endParaRPr/>
          </a:p>
        </p:txBody>
      </p:sp>
      <p:sp>
        <p:nvSpPr>
          <p:cNvPr id="149" name="Google Shape;149;p4"/>
          <p:cNvSpPr txBox="1"/>
          <p:nvPr/>
        </p:nvSpPr>
        <p:spPr>
          <a:xfrm>
            <a:off x="11903780" y="3961954"/>
            <a:ext cx="3288982" cy="361593"/>
          </a:xfrm>
          <a:prstGeom prst="rect">
            <a:avLst/>
          </a:prstGeom>
          <a:noFill/>
          <a:ln>
            <a:noFill/>
          </a:ln>
        </p:spPr>
        <p:txBody>
          <a:bodyPr spcFirstLastPara="1" wrap="square" lIns="0" tIns="0" rIns="0" bIns="0" anchor="t" anchorCtr="0">
            <a:spAutoFit/>
          </a:bodyPr>
          <a:lstStyle/>
          <a:p>
            <a:pPr marL="0" marR="0" lvl="0" indent="0" algn="l" rtl="0">
              <a:lnSpc>
                <a:spcPct val="125027"/>
              </a:lnSpc>
              <a:spcBef>
                <a:spcPts val="0"/>
              </a:spcBef>
              <a:spcAft>
                <a:spcPts val="0"/>
              </a:spcAft>
              <a:buNone/>
            </a:pPr>
            <a:r>
              <a:rPr lang="en-US" sz="2733" b="0" i="0" u="none" strike="noStrike" cap="none">
                <a:solidFill>
                  <a:srgbClr val="FFFFFF"/>
                </a:solidFill>
                <a:latin typeface="Fraunces"/>
                <a:ea typeface="Fraunces"/>
                <a:cs typeface="Fraunces"/>
                <a:sym typeface="Fraunces"/>
              </a:rPr>
              <a:t>User Interface</a:t>
            </a:r>
            <a:endParaRPr/>
          </a:p>
        </p:txBody>
      </p:sp>
      <p:sp>
        <p:nvSpPr>
          <p:cNvPr id="150" name="Google Shape;150;p4"/>
          <p:cNvSpPr txBox="1"/>
          <p:nvPr/>
        </p:nvSpPr>
        <p:spPr>
          <a:xfrm>
            <a:off x="11903780" y="4767501"/>
            <a:ext cx="3762554" cy="1780817"/>
          </a:xfrm>
          <a:prstGeom prst="rect">
            <a:avLst/>
          </a:prstGeom>
          <a:noFill/>
          <a:ln>
            <a:noFill/>
          </a:ln>
        </p:spPr>
        <p:txBody>
          <a:bodyPr spcFirstLastPara="1" wrap="square" lIns="0" tIns="0" rIns="0" bIns="0" anchor="t" anchorCtr="0">
            <a:spAutoFit/>
          </a:bodyPr>
          <a:lstStyle/>
          <a:p>
            <a:pPr marL="0" marR="0" lvl="0" indent="0" algn="l" rtl="0">
              <a:lnSpc>
                <a:spcPct val="159945"/>
              </a:lnSpc>
              <a:spcBef>
                <a:spcPts val="0"/>
              </a:spcBef>
              <a:spcAft>
                <a:spcPts val="0"/>
              </a:spcAft>
              <a:buNone/>
            </a:pPr>
            <a:r>
              <a:rPr lang="en-US" sz="2187" b="0" i="0" u="none" strike="noStrike" cap="none">
                <a:solidFill>
                  <a:srgbClr val="EBECEF"/>
                </a:solidFill>
                <a:latin typeface="Arimo"/>
                <a:ea typeface="Arimo"/>
                <a:cs typeface="Arimo"/>
                <a:sym typeface="Arimo"/>
              </a:rPr>
              <a:t>Provides a user-friendly interface for easy monitoring and system management.</a:t>
            </a:r>
            <a:endParaRPr/>
          </a:p>
        </p:txBody>
      </p:sp>
      <p:sp>
        <p:nvSpPr>
          <p:cNvPr id="151" name="Google Shape;151;p4"/>
          <p:cNvSpPr txBox="1"/>
          <p:nvPr/>
        </p:nvSpPr>
        <p:spPr>
          <a:xfrm>
            <a:off x="11903780" y="6598806"/>
            <a:ext cx="3762554" cy="1336566"/>
          </a:xfrm>
          <a:prstGeom prst="rect">
            <a:avLst/>
          </a:prstGeom>
          <a:noFill/>
          <a:ln>
            <a:noFill/>
          </a:ln>
        </p:spPr>
        <p:txBody>
          <a:bodyPr spcFirstLastPara="1" wrap="square" lIns="0" tIns="0" rIns="0" bIns="0" anchor="t" anchorCtr="0">
            <a:spAutoFit/>
          </a:bodyPr>
          <a:lstStyle/>
          <a:p>
            <a:pPr marL="0" marR="0" lvl="0" indent="0" algn="l" rtl="0">
              <a:lnSpc>
                <a:spcPct val="159945"/>
              </a:lnSpc>
              <a:spcBef>
                <a:spcPts val="0"/>
              </a:spcBef>
              <a:spcAft>
                <a:spcPts val="0"/>
              </a:spcAft>
              <a:buNone/>
            </a:pPr>
            <a:r>
              <a:rPr lang="en-US" sz="2187" b="0" i="0" u="none" strike="noStrike" cap="none">
                <a:solidFill>
                  <a:srgbClr val="EBECEF"/>
                </a:solidFill>
                <a:latin typeface="Arimo"/>
                <a:ea typeface="Arimo"/>
                <a:cs typeface="Arimo"/>
                <a:sym typeface="Arimo"/>
              </a:rPr>
              <a:t>Users can easily access and control the system through the intuitive interface.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5"/>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A8AFCC"/>
          </a:solidFill>
          <a:ln>
            <a:noFill/>
          </a:ln>
        </p:spPr>
      </p:sp>
      <p:sp>
        <p:nvSpPr>
          <p:cNvPr id="157" name="Google Shape;157;p5"/>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080E26"/>
          </a:solidFill>
          <a:ln>
            <a:noFill/>
          </a:ln>
        </p:spPr>
      </p:sp>
      <p:sp>
        <p:nvSpPr>
          <p:cNvPr id="158" name="Google Shape;158;p5" descr="preencoded.png"/>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a:stretch>
          </a:blipFill>
          <a:ln>
            <a:noFill/>
          </a:ln>
        </p:spPr>
      </p:sp>
      <p:sp>
        <p:nvSpPr>
          <p:cNvPr id="159" name="Google Shape;159;p5"/>
          <p:cNvSpPr/>
          <p:nvPr/>
        </p:nvSpPr>
        <p:spPr>
          <a:xfrm>
            <a:off x="9525"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080E26">
              <a:alpha val="80000"/>
            </a:srgbClr>
          </a:solidFill>
          <a:ln>
            <a:noFill/>
          </a:ln>
        </p:spPr>
      </p:sp>
      <p:sp>
        <p:nvSpPr>
          <p:cNvPr id="160" name="Google Shape;160;p5"/>
          <p:cNvSpPr txBox="1"/>
          <p:nvPr/>
        </p:nvSpPr>
        <p:spPr>
          <a:xfrm>
            <a:off x="2660228" y="1095017"/>
            <a:ext cx="6760845" cy="805101"/>
          </a:xfrm>
          <a:prstGeom prst="rect">
            <a:avLst/>
          </a:prstGeom>
          <a:noFill/>
          <a:ln>
            <a:noFill/>
          </a:ln>
        </p:spPr>
        <p:txBody>
          <a:bodyPr spcFirstLastPara="1" wrap="square" lIns="0" tIns="0" rIns="0" bIns="0" anchor="t" anchorCtr="0">
            <a:spAutoFit/>
          </a:bodyPr>
          <a:lstStyle/>
          <a:p>
            <a:pPr marL="0" marR="0" lvl="0" indent="0" algn="l" rtl="0">
              <a:lnSpc>
                <a:spcPct val="125004"/>
              </a:lnSpc>
              <a:spcBef>
                <a:spcPts val="0"/>
              </a:spcBef>
              <a:spcAft>
                <a:spcPts val="0"/>
              </a:spcAft>
              <a:buNone/>
            </a:pPr>
            <a:r>
              <a:rPr lang="en-US" sz="5467" b="0" i="0" u="none" strike="noStrike" cap="none">
                <a:solidFill>
                  <a:srgbClr val="FFFFFF"/>
                </a:solidFill>
                <a:latin typeface="Fraunces"/>
                <a:ea typeface="Fraunces"/>
                <a:cs typeface="Fraunces"/>
                <a:sym typeface="Fraunces"/>
              </a:rPr>
              <a:t>System Architecture</a:t>
            </a:r>
            <a:endParaRPr/>
          </a:p>
        </p:txBody>
      </p:sp>
      <p:sp>
        <p:nvSpPr>
          <p:cNvPr id="161" name="Google Shape;161;p5"/>
          <p:cNvSpPr txBox="1"/>
          <p:nvPr/>
        </p:nvSpPr>
        <p:spPr>
          <a:xfrm>
            <a:off x="2638931" y="2793460"/>
            <a:ext cx="3583216" cy="858901"/>
          </a:xfrm>
          <a:prstGeom prst="rect">
            <a:avLst/>
          </a:prstGeom>
          <a:noFill/>
          <a:ln>
            <a:noFill/>
          </a:ln>
        </p:spPr>
        <p:txBody>
          <a:bodyPr spcFirstLastPara="1" wrap="square" lIns="0" tIns="0" rIns="0" bIns="0" anchor="t" anchorCtr="0">
            <a:spAutoFit/>
          </a:bodyPr>
          <a:lstStyle/>
          <a:p>
            <a:pPr marL="0" marR="0" lvl="0" indent="0" algn="l" rtl="0">
              <a:lnSpc>
                <a:spcPct val="125027"/>
              </a:lnSpc>
              <a:spcBef>
                <a:spcPts val="0"/>
              </a:spcBef>
              <a:spcAft>
                <a:spcPts val="0"/>
              </a:spcAft>
              <a:buNone/>
            </a:pPr>
            <a:r>
              <a:rPr lang="en-US" sz="2733" b="0" i="0" u="none" strike="noStrike" cap="none">
                <a:solidFill>
                  <a:srgbClr val="FFFFFF"/>
                </a:solidFill>
                <a:latin typeface="Fraunces"/>
                <a:ea typeface="Fraunces"/>
                <a:cs typeface="Fraunces"/>
                <a:sym typeface="Fraunces"/>
              </a:rPr>
              <a:t>Components Overview</a:t>
            </a:r>
            <a:endParaRPr/>
          </a:p>
        </p:txBody>
      </p:sp>
      <p:sp>
        <p:nvSpPr>
          <p:cNvPr id="162" name="Google Shape;162;p5"/>
          <p:cNvSpPr txBox="1"/>
          <p:nvPr/>
        </p:nvSpPr>
        <p:spPr>
          <a:xfrm>
            <a:off x="2638931" y="3926265"/>
            <a:ext cx="6074896" cy="1336566"/>
          </a:xfrm>
          <a:prstGeom prst="rect">
            <a:avLst/>
          </a:prstGeom>
          <a:noFill/>
          <a:ln>
            <a:noFill/>
          </a:ln>
        </p:spPr>
        <p:txBody>
          <a:bodyPr spcFirstLastPara="1" wrap="square" lIns="0" tIns="0" rIns="0" bIns="0" anchor="t" anchorCtr="0">
            <a:spAutoFit/>
          </a:bodyPr>
          <a:lstStyle/>
          <a:p>
            <a:pPr marL="0" marR="0" lvl="0" indent="0" algn="l" rtl="0">
              <a:lnSpc>
                <a:spcPct val="159945"/>
              </a:lnSpc>
              <a:spcBef>
                <a:spcPts val="0"/>
              </a:spcBef>
              <a:spcAft>
                <a:spcPts val="0"/>
              </a:spcAft>
              <a:buNone/>
            </a:pPr>
            <a:r>
              <a:rPr lang="en-US" sz="2187" b="0" i="0" u="none" strike="noStrike" cap="none">
                <a:solidFill>
                  <a:srgbClr val="EBECEF"/>
                </a:solidFill>
                <a:latin typeface="Arimo"/>
                <a:ea typeface="Arimo"/>
                <a:cs typeface="Arimo"/>
                <a:sym typeface="Arimo"/>
              </a:rPr>
              <a:t>Our system consists of image recognition modules, a database, and decision-making algorithms.</a:t>
            </a:r>
            <a:endParaRPr/>
          </a:p>
        </p:txBody>
      </p:sp>
      <p:sp>
        <p:nvSpPr>
          <p:cNvPr id="163" name="Google Shape;163;p5"/>
          <p:cNvSpPr txBox="1"/>
          <p:nvPr/>
        </p:nvSpPr>
        <p:spPr>
          <a:xfrm>
            <a:off x="9583698" y="2870843"/>
            <a:ext cx="3288982" cy="361593"/>
          </a:xfrm>
          <a:prstGeom prst="rect">
            <a:avLst/>
          </a:prstGeom>
          <a:noFill/>
          <a:ln>
            <a:noFill/>
          </a:ln>
        </p:spPr>
        <p:txBody>
          <a:bodyPr spcFirstLastPara="1" wrap="square" lIns="0" tIns="0" rIns="0" bIns="0" anchor="t" anchorCtr="0">
            <a:spAutoFit/>
          </a:bodyPr>
          <a:lstStyle/>
          <a:p>
            <a:pPr marL="0" marR="0" lvl="0" indent="0" algn="l" rtl="0">
              <a:lnSpc>
                <a:spcPct val="125027"/>
              </a:lnSpc>
              <a:spcBef>
                <a:spcPts val="0"/>
              </a:spcBef>
              <a:spcAft>
                <a:spcPts val="0"/>
              </a:spcAft>
              <a:buNone/>
            </a:pPr>
            <a:r>
              <a:rPr lang="en-US" sz="2733" b="0" i="0" u="none" strike="noStrike" cap="none">
                <a:solidFill>
                  <a:srgbClr val="FFFFFF"/>
                </a:solidFill>
                <a:latin typeface="Fraunces"/>
                <a:ea typeface="Fraunces"/>
                <a:cs typeface="Fraunces"/>
                <a:sym typeface="Fraunces"/>
              </a:rPr>
              <a:t>Workflow Process</a:t>
            </a:r>
            <a:endParaRPr/>
          </a:p>
        </p:txBody>
      </p:sp>
      <p:sp>
        <p:nvSpPr>
          <p:cNvPr id="164" name="Google Shape;164;p5"/>
          <p:cNvSpPr txBox="1"/>
          <p:nvPr/>
        </p:nvSpPr>
        <p:spPr>
          <a:xfrm>
            <a:off x="9583698" y="3926265"/>
            <a:ext cx="6074896" cy="1336566"/>
          </a:xfrm>
          <a:prstGeom prst="rect">
            <a:avLst/>
          </a:prstGeom>
          <a:noFill/>
          <a:ln>
            <a:noFill/>
          </a:ln>
        </p:spPr>
        <p:txBody>
          <a:bodyPr spcFirstLastPara="1" wrap="square" lIns="0" tIns="0" rIns="0" bIns="0" anchor="t" anchorCtr="0">
            <a:spAutoFit/>
          </a:bodyPr>
          <a:lstStyle/>
          <a:p>
            <a:pPr marL="0" marR="0" lvl="0" indent="0" algn="l" rtl="0">
              <a:lnSpc>
                <a:spcPct val="159945"/>
              </a:lnSpc>
              <a:spcBef>
                <a:spcPts val="0"/>
              </a:spcBef>
              <a:spcAft>
                <a:spcPts val="0"/>
              </a:spcAft>
              <a:buNone/>
            </a:pPr>
            <a:r>
              <a:rPr lang="en-US" sz="2187" b="0" i="0" u="none" strike="noStrike" cap="none">
                <a:solidFill>
                  <a:srgbClr val="EBECEF"/>
                </a:solidFill>
                <a:latin typeface="Arimo"/>
                <a:ea typeface="Arimo"/>
                <a:cs typeface="Arimo"/>
                <a:sym typeface="Arimo"/>
              </a:rPr>
              <a:t>The system receives input, processes data, and directs items to the appropriate waste streams.</a:t>
            </a:r>
            <a:endParaRPr/>
          </a:p>
        </p:txBody>
      </p:sp>
      <p:sp>
        <p:nvSpPr>
          <p:cNvPr id="165" name="Google Shape;165;p5" descr="preencoded.png"/>
          <p:cNvSpPr/>
          <p:nvPr/>
        </p:nvSpPr>
        <p:spPr>
          <a:xfrm>
            <a:off x="2582167" y="5962947"/>
            <a:ext cx="156121" cy="208210"/>
          </a:xfrm>
          <a:custGeom>
            <a:avLst/>
            <a:gdLst/>
            <a:ahLst/>
            <a:cxnLst/>
            <a:rect l="l" t="t" r="r" b="b"/>
            <a:pathLst>
              <a:path w="156121" h="208210" extrusionOk="0">
                <a:moveTo>
                  <a:pt x="0" y="0"/>
                </a:moveTo>
                <a:lnTo>
                  <a:pt x="156122" y="0"/>
                </a:lnTo>
                <a:lnTo>
                  <a:pt x="156122" y="208210"/>
                </a:lnTo>
                <a:lnTo>
                  <a:pt x="0" y="208210"/>
                </a:lnTo>
                <a:lnTo>
                  <a:pt x="0" y="0"/>
                </a:lnTo>
                <a:close/>
              </a:path>
            </a:pathLst>
          </a:custGeom>
          <a:blipFill rotWithShape="1">
            <a:blip r:embed="rId4">
              <a:alphaModFix/>
            </a:blip>
            <a:stretch>
              <a:fillRect t="-1549" b="-1549"/>
            </a:stretch>
          </a:blipFill>
          <a:ln>
            <a:noFill/>
          </a:ln>
        </p:spPr>
      </p:sp>
      <p:sp>
        <p:nvSpPr>
          <p:cNvPr id="166" name="Google Shape;166;p5"/>
          <p:cNvSpPr txBox="1"/>
          <p:nvPr/>
        </p:nvSpPr>
        <p:spPr>
          <a:xfrm>
            <a:off x="3055501" y="5821292"/>
            <a:ext cx="12593568" cy="448063"/>
          </a:xfrm>
          <a:prstGeom prst="rect">
            <a:avLst/>
          </a:prstGeom>
          <a:noFill/>
          <a:ln>
            <a:noFill/>
          </a:ln>
        </p:spPr>
        <p:txBody>
          <a:bodyPr spcFirstLastPara="1" wrap="square" lIns="0" tIns="0" rIns="0" bIns="0" anchor="t" anchorCtr="0">
            <a:spAutoFit/>
          </a:bodyPr>
          <a:lstStyle/>
          <a:p>
            <a:pPr marL="0" marR="0" lvl="0" indent="0" algn="l" rtl="0">
              <a:lnSpc>
                <a:spcPct val="159945"/>
              </a:lnSpc>
              <a:spcBef>
                <a:spcPts val="0"/>
              </a:spcBef>
              <a:spcAft>
                <a:spcPts val="0"/>
              </a:spcAft>
              <a:buNone/>
            </a:pPr>
            <a:r>
              <a:rPr lang="en-US" sz="2187" b="0" i="0" u="none" strike="noStrike" cap="none">
                <a:solidFill>
                  <a:srgbClr val="EBECEF"/>
                </a:solidFill>
                <a:latin typeface="Arimo"/>
                <a:ea typeface="Arimo"/>
                <a:cs typeface="Arimo"/>
                <a:sym typeface="Arimo"/>
              </a:rPr>
              <a:t>Integration with Existing Infrastructure</a:t>
            </a:r>
            <a:endParaRPr/>
          </a:p>
        </p:txBody>
      </p:sp>
      <p:sp>
        <p:nvSpPr>
          <p:cNvPr id="167" name="Google Shape;167;p5" descr="preencoded.png"/>
          <p:cNvSpPr/>
          <p:nvPr/>
        </p:nvSpPr>
        <p:spPr>
          <a:xfrm>
            <a:off x="2582167" y="6719590"/>
            <a:ext cx="156121" cy="208210"/>
          </a:xfrm>
          <a:custGeom>
            <a:avLst/>
            <a:gdLst/>
            <a:ahLst/>
            <a:cxnLst/>
            <a:rect l="l" t="t" r="r" b="b"/>
            <a:pathLst>
              <a:path w="156121" h="208210" extrusionOk="0">
                <a:moveTo>
                  <a:pt x="0" y="0"/>
                </a:moveTo>
                <a:lnTo>
                  <a:pt x="156122" y="0"/>
                </a:lnTo>
                <a:lnTo>
                  <a:pt x="156122" y="208210"/>
                </a:lnTo>
                <a:lnTo>
                  <a:pt x="0" y="208210"/>
                </a:lnTo>
                <a:lnTo>
                  <a:pt x="0" y="0"/>
                </a:lnTo>
                <a:close/>
              </a:path>
            </a:pathLst>
          </a:custGeom>
          <a:blipFill rotWithShape="1">
            <a:blip r:embed="rId4">
              <a:alphaModFix/>
            </a:blip>
            <a:stretch>
              <a:fillRect t="-1549" b="-1549"/>
            </a:stretch>
          </a:blipFill>
          <a:ln>
            <a:noFill/>
          </a:ln>
        </p:spPr>
      </p:sp>
      <p:sp>
        <p:nvSpPr>
          <p:cNvPr id="168" name="Google Shape;168;p5"/>
          <p:cNvSpPr txBox="1"/>
          <p:nvPr/>
        </p:nvSpPr>
        <p:spPr>
          <a:xfrm>
            <a:off x="3055501" y="6577935"/>
            <a:ext cx="12593568" cy="448063"/>
          </a:xfrm>
          <a:prstGeom prst="rect">
            <a:avLst/>
          </a:prstGeom>
          <a:noFill/>
          <a:ln>
            <a:noFill/>
          </a:ln>
        </p:spPr>
        <p:txBody>
          <a:bodyPr spcFirstLastPara="1" wrap="square" lIns="0" tIns="0" rIns="0" bIns="0" anchor="t" anchorCtr="0">
            <a:spAutoFit/>
          </a:bodyPr>
          <a:lstStyle/>
          <a:p>
            <a:pPr marL="0" marR="0" lvl="0" indent="0" algn="l" rtl="0">
              <a:lnSpc>
                <a:spcPct val="159945"/>
              </a:lnSpc>
              <a:spcBef>
                <a:spcPts val="0"/>
              </a:spcBef>
              <a:spcAft>
                <a:spcPts val="0"/>
              </a:spcAft>
              <a:buNone/>
            </a:pPr>
            <a:r>
              <a:rPr lang="en-US" sz="2187" b="0" i="0" u="none" strike="noStrike" cap="none">
                <a:solidFill>
                  <a:srgbClr val="EBECEF"/>
                </a:solidFill>
                <a:latin typeface="Arimo"/>
                <a:ea typeface="Arimo"/>
                <a:cs typeface="Arimo"/>
                <a:sym typeface="Arimo"/>
              </a:rPr>
              <a:t>Data Security and Privacy</a:t>
            </a:r>
            <a:endParaRPr/>
          </a:p>
        </p:txBody>
      </p:sp>
      <p:sp>
        <p:nvSpPr>
          <p:cNvPr id="169" name="Google Shape;169;p5" descr="preencoded.png"/>
          <p:cNvSpPr/>
          <p:nvPr/>
        </p:nvSpPr>
        <p:spPr>
          <a:xfrm>
            <a:off x="2582167" y="7476232"/>
            <a:ext cx="156121" cy="208210"/>
          </a:xfrm>
          <a:custGeom>
            <a:avLst/>
            <a:gdLst/>
            <a:ahLst/>
            <a:cxnLst/>
            <a:rect l="l" t="t" r="r" b="b"/>
            <a:pathLst>
              <a:path w="156121" h="208210" extrusionOk="0">
                <a:moveTo>
                  <a:pt x="0" y="0"/>
                </a:moveTo>
                <a:lnTo>
                  <a:pt x="156122" y="0"/>
                </a:lnTo>
                <a:lnTo>
                  <a:pt x="156122" y="208210"/>
                </a:lnTo>
                <a:lnTo>
                  <a:pt x="0" y="208210"/>
                </a:lnTo>
                <a:lnTo>
                  <a:pt x="0" y="0"/>
                </a:lnTo>
                <a:close/>
              </a:path>
            </a:pathLst>
          </a:custGeom>
          <a:blipFill rotWithShape="1">
            <a:blip r:embed="rId4">
              <a:alphaModFix/>
            </a:blip>
            <a:stretch>
              <a:fillRect t="-1549" b="-1549"/>
            </a:stretch>
          </a:blipFill>
          <a:ln>
            <a:noFill/>
          </a:ln>
        </p:spPr>
      </p:sp>
      <p:sp>
        <p:nvSpPr>
          <p:cNvPr id="170" name="Google Shape;170;p5"/>
          <p:cNvSpPr txBox="1"/>
          <p:nvPr/>
        </p:nvSpPr>
        <p:spPr>
          <a:xfrm>
            <a:off x="3055501" y="7334577"/>
            <a:ext cx="12593568" cy="448063"/>
          </a:xfrm>
          <a:prstGeom prst="rect">
            <a:avLst/>
          </a:prstGeom>
          <a:noFill/>
          <a:ln>
            <a:noFill/>
          </a:ln>
        </p:spPr>
        <p:txBody>
          <a:bodyPr spcFirstLastPara="1" wrap="square" lIns="0" tIns="0" rIns="0" bIns="0" anchor="t" anchorCtr="0">
            <a:spAutoFit/>
          </a:bodyPr>
          <a:lstStyle/>
          <a:p>
            <a:pPr marL="0" marR="0" lvl="0" indent="0" algn="l" rtl="0">
              <a:lnSpc>
                <a:spcPct val="159945"/>
              </a:lnSpc>
              <a:spcBef>
                <a:spcPts val="0"/>
              </a:spcBef>
              <a:spcAft>
                <a:spcPts val="0"/>
              </a:spcAft>
              <a:buNone/>
            </a:pPr>
            <a:r>
              <a:rPr lang="en-US" sz="2187" b="0" i="0" u="none" strike="noStrike" cap="none">
                <a:solidFill>
                  <a:srgbClr val="EBECEF"/>
                </a:solidFill>
                <a:latin typeface="Arimo"/>
                <a:ea typeface="Arimo"/>
                <a:cs typeface="Arimo"/>
                <a:sym typeface="Arimo"/>
              </a:rPr>
              <a:t>Scalability and Performance</a:t>
            </a:r>
            <a:endParaRPr/>
          </a:p>
        </p:txBody>
      </p:sp>
      <p:sp>
        <p:nvSpPr>
          <p:cNvPr id="171" name="Google Shape;171;p5" descr="preencoded.png"/>
          <p:cNvSpPr/>
          <p:nvPr/>
        </p:nvSpPr>
        <p:spPr>
          <a:xfrm>
            <a:off x="2582167" y="8232874"/>
            <a:ext cx="156121" cy="208210"/>
          </a:xfrm>
          <a:custGeom>
            <a:avLst/>
            <a:gdLst/>
            <a:ahLst/>
            <a:cxnLst/>
            <a:rect l="l" t="t" r="r" b="b"/>
            <a:pathLst>
              <a:path w="156121" h="208210" extrusionOk="0">
                <a:moveTo>
                  <a:pt x="0" y="0"/>
                </a:moveTo>
                <a:lnTo>
                  <a:pt x="156122" y="0"/>
                </a:lnTo>
                <a:lnTo>
                  <a:pt x="156122" y="208210"/>
                </a:lnTo>
                <a:lnTo>
                  <a:pt x="0" y="208210"/>
                </a:lnTo>
                <a:lnTo>
                  <a:pt x="0" y="0"/>
                </a:lnTo>
                <a:close/>
              </a:path>
            </a:pathLst>
          </a:custGeom>
          <a:blipFill rotWithShape="1">
            <a:blip r:embed="rId4">
              <a:alphaModFix/>
            </a:blip>
            <a:stretch>
              <a:fillRect t="-1549" b="-1549"/>
            </a:stretch>
          </a:blipFill>
          <a:ln>
            <a:noFill/>
          </a:ln>
        </p:spPr>
      </p:sp>
      <p:sp>
        <p:nvSpPr>
          <p:cNvPr id="172" name="Google Shape;172;p5"/>
          <p:cNvSpPr txBox="1"/>
          <p:nvPr/>
        </p:nvSpPr>
        <p:spPr>
          <a:xfrm>
            <a:off x="3055501" y="8091220"/>
            <a:ext cx="12593568" cy="448063"/>
          </a:xfrm>
          <a:prstGeom prst="rect">
            <a:avLst/>
          </a:prstGeom>
          <a:noFill/>
          <a:ln>
            <a:noFill/>
          </a:ln>
        </p:spPr>
        <p:txBody>
          <a:bodyPr spcFirstLastPara="1" wrap="square" lIns="0" tIns="0" rIns="0" bIns="0" anchor="t" anchorCtr="0">
            <a:spAutoFit/>
          </a:bodyPr>
          <a:lstStyle/>
          <a:p>
            <a:pPr marL="0" marR="0" lvl="0" indent="0" algn="l" rtl="0">
              <a:lnSpc>
                <a:spcPct val="159945"/>
              </a:lnSpc>
              <a:spcBef>
                <a:spcPts val="0"/>
              </a:spcBef>
              <a:spcAft>
                <a:spcPts val="0"/>
              </a:spcAft>
              <a:buNone/>
            </a:pPr>
            <a:r>
              <a:rPr lang="en-US" sz="2187" b="0" i="0" u="none" strike="noStrike" cap="none">
                <a:solidFill>
                  <a:srgbClr val="EBECEF"/>
                </a:solidFill>
                <a:latin typeface="Arimo"/>
                <a:ea typeface="Arimo"/>
                <a:cs typeface="Arimo"/>
                <a:sym typeface="Arimo"/>
              </a:rPr>
              <a:t>User-Friendly Interface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6"/>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A8AFCC"/>
          </a:solidFill>
          <a:ln>
            <a:noFill/>
          </a:ln>
        </p:spPr>
      </p:sp>
      <p:sp>
        <p:nvSpPr>
          <p:cNvPr id="178" name="Google Shape;178;p6"/>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080E26"/>
          </a:solidFill>
          <a:ln>
            <a:noFill/>
          </a:ln>
        </p:spPr>
      </p:sp>
      <p:sp>
        <p:nvSpPr>
          <p:cNvPr id="179" name="Google Shape;179;p6"/>
          <p:cNvSpPr txBox="1"/>
          <p:nvPr/>
        </p:nvSpPr>
        <p:spPr>
          <a:xfrm>
            <a:off x="2638381" y="1018453"/>
            <a:ext cx="12881252" cy="1727129"/>
          </a:xfrm>
          <a:prstGeom prst="rect">
            <a:avLst/>
          </a:prstGeom>
          <a:noFill/>
          <a:ln>
            <a:noFill/>
          </a:ln>
        </p:spPr>
        <p:txBody>
          <a:bodyPr spcFirstLastPara="1" wrap="square" lIns="0" tIns="0" rIns="0" bIns="0" anchor="t" anchorCtr="0">
            <a:spAutoFit/>
          </a:bodyPr>
          <a:lstStyle/>
          <a:p>
            <a:pPr marL="0" marR="0" lvl="0" indent="0" algn="l" rtl="0">
              <a:lnSpc>
                <a:spcPct val="125004"/>
              </a:lnSpc>
              <a:spcBef>
                <a:spcPts val="0"/>
              </a:spcBef>
              <a:spcAft>
                <a:spcPts val="0"/>
              </a:spcAft>
              <a:buNone/>
            </a:pPr>
            <a:r>
              <a:rPr lang="en-US" sz="5467" b="0" i="0" u="none" strike="noStrike" cap="none">
                <a:solidFill>
                  <a:srgbClr val="FFFFFF"/>
                </a:solidFill>
                <a:latin typeface="Fraunces"/>
                <a:ea typeface="Fraunces"/>
                <a:cs typeface="Fraunces"/>
                <a:sym typeface="Fraunces"/>
              </a:rPr>
              <a:t>Advantages of AI for Waste Segregation</a:t>
            </a:r>
            <a:endParaRPr/>
          </a:p>
        </p:txBody>
      </p:sp>
      <p:sp>
        <p:nvSpPr>
          <p:cNvPr id="180" name="Google Shape;180;p6" descr="preencoded.png"/>
          <p:cNvSpPr/>
          <p:nvPr/>
        </p:nvSpPr>
        <p:spPr>
          <a:xfrm>
            <a:off x="2545214" y="3068311"/>
            <a:ext cx="555426" cy="555426"/>
          </a:xfrm>
          <a:custGeom>
            <a:avLst/>
            <a:gdLst/>
            <a:ahLst/>
            <a:cxnLst/>
            <a:rect l="l" t="t" r="r" b="b"/>
            <a:pathLst>
              <a:path w="555426" h="555426" extrusionOk="0">
                <a:moveTo>
                  <a:pt x="0" y="0"/>
                </a:moveTo>
                <a:lnTo>
                  <a:pt x="555427" y="0"/>
                </a:lnTo>
                <a:lnTo>
                  <a:pt x="555427" y="555426"/>
                </a:lnTo>
                <a:lnTo>
                  <a:pt x="0" y="555426"/>
                </a:lnTo>
                <a:lnTo>
                  <a:pt x="0" y="0"/>
                </a:lnTo>
                <a:close/>
              </a:path>
            </a:pathLst>
          </a:custGeom>
          <a:blipFill rotWithShape="1">
            <a:blip r:embed="rId3">
              <a:alphaModFix/>
            </a:blip>
            <a:stretch>
              <a:fillRect/>
            </a:stretch>
          </a:blipFill>
          <a:ln>
            <a:noFill/>
          </a:ln>
        </p:spPr>
      </p:sp>
      <p:sp>
        <p:nvSpPr>
          <p:cNvPr id="181" name="Google Shape;181;p6"/>
          <p:cNvSpPr txBox="1"/>
          <p:nvPr/>
        </p:nvSpPr>
        <p:spPr>
          <a:xfrm>
            <a:off x="2638931" y="3776841"/>
            <a:ext cx="3288982" cy="361593"/>
          </a:xfrm>
          <a:prstGeom prst="rect">
            <a:avLst/>
          </a:prstGeom>
          <a:noFill/>
          <a:ln>
            <a:noFill/>
          </a:ln>
        </p:spPr>
        <p:txBody>
          <a:bodyPr spcFirstLastPara="1" wrap="square" lIns="0" tIns="0" rIns="0" bIns="0" anchor="t" anchorCtr="0">
            <a:spAutoFit/>
          </a:bodyPr>
          <a:lstStyle/>
          <a:p>
            <a:pPr marL="0" marR="0" lvl="0" indent="0" algn="l" rtl="0">
              <a:lnSpc>
                <a:spcPct val="125027"/>
              </a:lnSpc>
              <a:spcBef>
                <a:spcPts val="0"/>
              </a:spcBef>
              <a:spcAft>
                <a:spcPts val="0"/>
              </a:spcAft>
              <a:buNone/>
            </a:pPr>
            <a:r>
              <a:rPr lang="en-US" sz="2733" b="0" i="0" u="none" strike="noStrike" cap="none">
                <a:solidFill>
                  <a:srgbClr val="FFFFFF"/>
                </a:solidFill>
                <a:latin typeface="Fraunces"/>
                <a:ea typeface="Fraunces"/>
                <a:cs typeface="Fraunces"/>
                <a:sym typeface="Fraunces"/>
              </a:rPr>
              <a:t>Efficiency</a:t>
            </a:r>
            <a:endParaRPr/>
          </a:p>
        </p:txBody>
      </p:sp>
      <p:sp>
        <p:nvSpPr>
          <p:cNvPr id="182" name="Google Shape;182;p6"/>
          <p:cNvSpPr txBox="1"/>
          <p:nvPr/>
        </p:nvSpPr>
        <p:spPr>
          <a:xfrm>
            <a:off x="2638381" y="4811970"/>
            <a:ext cx="3936980" cy="4002077"/>
          </a:xfrm>
          <a:prstGeom prst="rect">
            <a:avLst/>
          </a:prstGeom>
          <a:noFill/>
          <a:ln>
            <a:noFill/>
          </a:ln>
        </p:spPr>
        <p:txBody>
          <a:bodyPr spcFirstLastPara="1" wrap="square" lIns="0" tIns="0" rIns="0" bIns="0" anchor="t" anchorCtr="0">
            <a:spAutoFit/>
          </a:bodyPr>
          <a:lstStyle/>
          <a:p>
            <a:pPr marL="0" marR="0" lvl="0" indent="0" algn="l" rtl="0">
              <a:lnSpc>
                <a:spcPct val="159945"/>
              </a:lnSpc>
              <a:spcBef>
                <a:spcPts val="0"/>
              </a:spcBef>
              <a:spcAft>
                <a:spcPts val="0"/>
              </a:spcAft>
              <a:buNone/>
            </a:pPr>
            <a:r>
              <a:rPr lang="en-US" sz="2187" b="0" i="0" u="none" strike="noStrike" cap="none">
                <a:solidFill>
                  <a:srgbClr val="EBECEF"/>
                </a:solidFill>
                <a:latin typeface="Arimo"/>
                <a:ea typeface="Arimo"/>
                <a:cs typeface="Arimo"/>
                <a:sym typeface="Arimo"/>
              </a:rPr>
              <a:t>AI optimizes waste segregation processes by utilizing advanced algorithms and machine learning techniques. It quickly and accurately sorts different types of waste, reducing sorting time and enabling effective waste management.</a:t>
            </a:r>
            <a:endParaRPr/>
          </a:p>
        </p:txBody>
      </p:sp>
      <p:sp>
        <p:nvSpPr>
          <p:cNvPr id="183" name="Google Shape;183;p6" descr="preencoded.png"/>
          <p:cNvSpPr/>
          <p:nvPr/>
        </p:nvSpPr>
        <p:spPr>
          <a:xfrm>
            <a:off x="7129716" y="3068311"/>
            <a:ext cx="555426" cy="555426"/>
          </a:xfrm>
          <a:custGeom>
            <a:avLst/>
            <a:gdLst/>
            <a:ahLst/>
            <a:cxnLst/>
            <a:rect l="l" t="t" r="r" b="b"/>
            <a:pathLst>
              <a:path w="555426" h="555426" extrusionOk="0">
                <a:moveTo>
                  <a:pt x="0" y="0"/>
                </a:moveTo>
                <a:lnTo>
                  <a:pt x="555426" y="0"/>
                </a:lnTo>
                <a:lnTo>
                  <a:pt x="555426" y="555426"/>
                </a:lnTo>
                <a:lnTo>
                  <a:pt x="0" y="555426"/>
                </a:lnTo>
                <a:lnTo>
                  <a:pt x="0" y="0"/>
                </a:lnTo>
                <a:close/>
              </a:path>
            </a:pathLst>
          </a:custGeom>
          <a:blipFill rotWithShape="1">
            <a:blip r:embed="rId4">
              <a:alphaModFix/>
            </a:blip>
            <a:stretch>
              <a:fillRect/>
            </a:stretch>
          </a:blipFill>
          <a:ln>
            <a:noFill/>
          </a:ln>
        </p:spPr>
      </p:sp>
      <p:sp>
        <p:nvSpPr>
          <p:cNvPr id="184" name="Google Shape;184;p6"/>
          <p:cNvSpPr txBox="1"/>
          <p:nvPr/>
        </p:nvSpPr>
        <p:spPr>
          <a:xfrm>
            <a:off x="7175361" y="3776841"/>
            <a:ext cx="3565803" cy="361593"/>
          </a:xfrm>
          <a:prstGeom prst="rect">
            <a:avLst/>
          </a:prstGeom>
          <a:noFill/>
          <a:ln>
            <a:noFill/>
          </a:ln>
        </p:spPr>
        <p:txBody>
          <a:bodyPr spcFirstLastPara="1" wrap="square" lIns="0" tIns="0" rIns="0" bIns="0" anchor="t" anchorCtr="0">
            <a:spAutoFit/>
          </a:bodyPr>
          <a:lstStyle/>
          <a:p>
            <a:pPr marL="0" marR="0" lvl="0" indent="0" algn="l" rtl="0">
              <a:lnSpc>
                <a:spcPct val="125027"/>
              </a:lnSpc>
              <a:spcBef>
                <a:spcPts val="0"/>
              </a:spcBef>
              <a:spcAft>
                <a:spcPts val="0"/>
              </a:spcAft>
              <a:buNone/>
            </a:pPr>
            <a:r>
              <a:rPr lang="en-US" sz="2733" b="0" i="0" u="none" strike="noStrike" cap="none">
                <a:solidFill>
                  <a:srgbClr val="FFFFFF"/>
                </a:solidFill>
                <a:latin typeface="Fraunces"/>
                <a:ea typeface="Fraunces"/>
                <a:cs typeface="Fraunces"/>
                <a:sym typeface="Fraunces"/>
              </a:rPr>
              <a:t>Environmental Impact</a:t>
            </a:r>
            <a:endParaRPr/>
          </a:p>
        </p:txBody>
      </p:sp>
      <p:sp>
        <p:nvSpPr>
          <p:cNvPr id="185" name="Google Shape;185;p6"/>
          <p:cNvSpPr txBox="1"/>
          <p:nvPr/>
        </p:nvSpPr>
        <p:spPr>
          <a:xfrm>
            <a:off x="7175436" y="4811970"/>
            <a:ext cx="3937129" cy="4446330"/>
          </a:xfrm>
          <a:prstGeom prst="rect">
            <a:avLst/>
          </a:prstGeom>
          <a:noFill/>
          <a:ln>
            <a:noFill/>
          </a:ln>
        </p:spPr>
        <p:txBody>
          <a:bodyPr spcFirstLastPara="1" wrap="square" lIns="0" tIns="0" rIns="0" bIns="0" anchor="t" anchorCtr="0">
            <a:spAutoFit/>
          </a:bodyPr>
          <a:lstStyle/>
          <a:p>
            <a:pPr marL="0" marR="0" lvl="0" indent="0" algn="l" rtl="0">
              <a:lnSpc>
                <a:spcPct val="159945"/>
              </a:lnSpc>
              <a:spcBef>
                <a:spcPts val="0"/>
              </a:spcBef>
              <a:spcAft>
                <a:spcPts val="0"/>
              </a:spcAft>
              <a:buNone/>
            </a:pPr>
            <a:r>
              <a:rPr lang="en-US" sz="2187" b="0" i="0" u="none" strike="noStrike" cap="none">
                <a:solidFill>
                  <a:srgbClr val="EBECEF"/>
                </a:solidFill>
                <a:latin typeface="Arimo"/>
                <a:ea typeface="Arimo"/>
                <a:cs typeface="Arimo"/>
                <a:sym typeface="Arimo"/>
              </a:rPr>
              <a:t>AI automates waste segregation, minimizing environmental pollution and promoting sustainable waste management. It identifies recyclable materials, reducing waste in landfills and incinerators, and contributing to resource conservation.</a:t>
            </a:r>
            <a:endParaRPr/>
          </a:p>
        </p:txBody>
      </p:sp>
      <p:sp>
        <p:nvSpPr>
          <p:cNvPr id="186" name="Google Shape;186;p6" descr="preencoded.png"/>
          <p:cNvSpPr/>
          <p:nvPr/>
        </p:nvSpPr>
        <p:spPr>
          <a:xfrm>
            <a:off x="11711940" y="3068311"/>
            <a:ext cx="555426" cy="555426"/>
          </a:xfrm>
          <a:custGeom>
            <a:avLst/>
            <a:gdLst/>
            <a:ahLst/>
            <a:cxnLst/>
            <a:rect l="l" t="t" r="r" b="b"/>
            <a:pathLst>
              <a:path w="555426" h="555426" extrusionOk="0">
                <a:moveTo>
                  <a:pt x="0" y="0"/>
                </a:moveTo>
                <a:lnTo>
                  <a:pt x="555426" y="0"/>
                </a:lnTo>
                <a:lnTo>
                  <a:pt x="555426" y="555426"/>
                </a:lnTo>
                <a:lnTo>
                  <a:pt x="0" y="555426"/>
                </a:lnTo>
                <a:lnTo>
                  <a:pt x="0" y="0"/>
                </a:lnTo>
                <a:close/>
              </a:path>
            </a:pathLst>
          </a:custGeom>
          <a:blipFill rotWithShape="1">
            <a:blip r:embed="rId5">
              <a:alphaModFix/>
            </a:blip>
            <a:stretch>
              <a:fillRect/>
            </a:stretch>
          </a:blipFill>
          <a:ln>
            <a:noFill/>
          </a:ln>
        </p:spPr>
      </p:sp>
      <p:sp>
        <p:nvSpPr>
          <p:cNvPr id="187" name="Google Shape;187;p6"/>
          <p:cNvSpPr txBox="1"/>
          <p:nvPr/>
        </p:nvSpPr>
        <p:spPr>
          <a:xfrm>
            <a:off x="11711940" y="3776841"/>
            <a:ext cx="3288982" cy="361593"/>
          </a:xfrm>
          <a:prstGeom prst="rect">
            <a:avLst/>
          </a:prstGeom>
          <a:noFill/>
          <a:ln>
            <a:noFill/>
          </a:ln>
        </p:spPr>
        <p:txBody>
          <a:bodyPr spcFirstLastPara="1" wrap="square" lIns="0" tIns="0" rIns="0" bIns="0" anchor="t" anchorCtr="0">
            <a:spAutoFit/>
          </a:bodyPr>
          <a:lstStyle/>
          <a:p>
            <a:pPr marL="0" marR="0" lvl="0" indent="0" algn="l" rtl="0">
              <a:lnSpc>
                <a:spcPct val="125027"/>
              </a:lnSpc>
              <a:spcBef>
                <a:spcPts val="0"/>
              </a:spcBef>
              <a:spcAft>
                <a:spcPts val="0"/>
              </a:spcAft>
              <a:buNone/>
            </a:pPr>
            <a:r>
              <a:rPr lang="en-US" sz="2733" b="0" i="0" u="none" strike="noStrike" cap="none">
                <a:solidFill>
                  <a:srgbClr val="FFFFFF"/>
                </a:solidFill>
                <a:latin typeface="Fraunces"/>
                <a:ea typeface="Fraunces"/>
                <a:cs typeface="Fraunces"/>
                <a:sym typeface="Fraunces"/>
              </a:rPr>
              <a:t>Accuracy</a:t>
            </a:r>
            <a:endParaRPr/>
          </a:p>
        </p:txBody>
      </p:sp>
      <p:sp>
        <p:nvSpPr>
          <p:cNvPr id="188" name="Google Shape;188;p6"/>
          <p:cNvSpPr txBox="1"/>
          <p:nvPr/>
        </p:nvSpPr>
        <p:spPr>
          <a:xfrm>
            <a:off x="11711940" y="4811970"/>
            <a:ext cx="3937129" cy="3557826"/>
          </a:xfrm>
          <a:prstGeom prst="rect">
            <a:avLst/>
          </a:prstGeom>
          <a:noFill/>
          <a:ln>
            <a:noFill/>
          </a:ln>
        </p:spPr>
        <p:txBody>
          <a:bodyPr spcFirstLastPara="1" wrap="square" lIns="0" tIns="0" rIns="0" bIns="0" anchor="t" anchorCtr="0">
            <a:spAutoFit/>
          </a:bodyPr>
          <a:lstStyle/>
          <a:p>
            <a:pPr marL="0" marR="0" lvl="0" indent="0" algn="l" rtl="0">
              <a:lnSpc>
                <a:spcPct val="159945"/>
              </a:lnSpc>
              <a:spcBef>
                <a:spcPts val="0"/>
              </a:spcBef>
              <a:spcAft>
                <a:spcPts val="0"/>
              </a:spcAft>
              <a:buNone/>
            </a:pPr>
            <a:r>
              <a:rPr lang="en-US" sz="2187" b="0" i="0" u="none" strike="noStrike" cap="none">
                <a:solidFill>
                  <a:srgbClr val="EBECEF"/>
                </a:solidFill>
                <a:latin typeface="Arimo"/>
                <a:ea typeface="Arimo"/>
                <a:cs typeface="Arimo"/>
                <a:sym typeface="Arimo"/>
              </a:rPr>
              <a:t>AI-based waste segregation systems precisely identify and categorize waste materials. This improves segregation quality, reduces errors, enhances recycling effectiveness, and minimizes contamination.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7"/>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A8AFCC"/>
          </a:solidFill>
          <a:ln>
            <a:noFill/>
          </a:ln>
        </p:spPr>
      </p:sp>
      <p:sp>
        <p:nvSpPr>
          <p:cNvPr id="194" name="Google Shape;194;p7"/>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080E26"/>
          </a:solidFill>
          <a:ln>
            <a:noFill/>
          </a:ln>
        </p:spPr>
      </p:sp>
      <p:sp>
        <p:nvSpPr>
          <p:cNvPr id="195" name="Google Shape;195;p7" descr="preencoded.png"/>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a:stretch>
          </a:blipFill>
          <a:ln>
            <a:noFill/>
          </a:ln>
        </p:spPr>
      </p:sp>
      <p:sp>
        <p:nvSpPr>
          <p:cNvPr id="196" name="Google Shape;196;p7"/>
          <p:cNvSpPr/>
          <p:nvPr/>
        </p:nvSpPr>
        <p:spPr>
          <a:xfrm>
            <a:off x="-181535"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080E26">
              <a:alpha val="80000"/>
            </a:srgbClr>
          </a:solidFill>
          <a:ln>
            <a:noFill/>
          </a:ln>
        </p:spPr>
      </p:sp>
      <p:sp>
        <p:nvSpPr>
          <p:cNvPr id="197" name="Google Shape;197;p7"/>
          <p:cNvSpPr txBox="1"/>
          <p:nvPr/>
        </p:nvSpPr>
        <p:spPr>
          <a:xfrm>
            <a:off x="2646834" y="1009076"/>
            <a:ext cx="7934058" cy="1727129"/>
          </a:xfrm>
          <a:prstGeom prst="rect">
            <a:avLst/>
          </a:prstGeom>
          <a:noFill/>
          <a:ln>
            <a:noFill/>
          </a:ln>
        </p:spPr>
        <p:txBody>
          <a:bodyPr spcFirstLastPara="1" wrap="square" lIns="0" tIns="0" rIns="0" bIns="0" anchor="t" anchorCtr="0">
            <a:spAutoFit/>
          </a:bodyPr>
          <a:lstStyle/>
          <a:p>
            <a:pPr marL="0" marR="0" lvl="0" indent="0" algn="l" rtl="0">
              <a:lnSpc>
                <a:spcPct val="125004"/>
              </a:lnSpc>
              <a:spcBef>
                <a:spcPts val="0"/>
              </a:spcBef>
              <a:spcAft>
                <a:spcPts val="0"/>
              </a:spcAft>
              <a:buNone/>
            </a:pPr>
            <a:r>
              <a:rPr lang="en-US" sz="5467" b="0" i="0" u="none" strike="noStrike" cap="none">
                <a:solidFill>
                  <a:srgbClr val="FFFFFF"/>
                </a:solidFill>
                <a:latin typeface="Fraunces"/>
                <a:ea typeface="Fraunces"/>
                <a:cs typeface="Fraunces"/>
                <a:sym typeface="Fraunces"/>
              </a:rPr>
              <a:t>Implementation Process</a:t>
            </a:r>
            <a:endParaRPr/>
          </a:p>
        </p:txBody>
      </p:sp>
      <p:sp>
        <p:nvSpPr>
          <p:cNvPr id="198" name="Google Shape;198;p7"/>
          <p:cNvSpPr/>
          <p:nvPr/>
        </p:nvSpPr>
        <p:spPr>
          <a:xfrm>
            <a:off x="2936379" y="3107680"/>
            <a:ext cx="55530" cy="5356003"/>
          </a:xfrm>
          <a:custGeom>
            <a:avLst/>
            <a:gdLst/>
            <a:ahLst/>
            <a:cxnLst/>
            <a:rect l="l" t="t" r="r" b="b"/>
            <a:pathLst>
              <a:path w="74041" h="7141337" extrusionOk="0">
                <a:moveTo>
                  <a:pt x="0" y="36957"/>
                </a:moveTo>
                <a:cubicBezTo>
                  <a:pt x="0" y="16510"/>
                  <a:pt x="16510" y="0"/>
                  <a:pt x="36957" y="0"/>
                </a:cubicBezTo>
                <a:cubicBezTo>
                  <a:pt x="57404" y="0"/>
                  <a:pt x="74041" y="16510"/>
                  <a:pt x="74041" y="36957"/>
                </a:cubicBezTo>
                <a:lnTo>
                  <a:pt x="74041" y="7104380"/>
                </a:lnTo>
                <a:cubicBezTo>
                  <a:pt x="74041" y="7124827"/>
                  <a:pt x="57531" y="7141337"/>
                  <a:pt x="37084" y="7141337"/>
                </a:cubicBezTo>
                <a:cubicBezTo>
                  <a:pt x="16637" y="7141337"/>
                  <a:pt x="0" y="7124827"/>
                  <a:pt x="0" y="7104380"/>
                </a:cubicBezTo>
                <a:close/>
              </a:path>
            </a:pathLst>
          </a:custGeom>
          <a:solidFill>
            <a:srgbClr val="414A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7"/>
          <p:cNvSpPr/>
          <p:nvPr/>
        </p:nvSpPr>
        <p:spPr>
          <a:xfrm>
            <a:off x="3276525" y="3609305"/>
            <a:ext cx="971931" cy="55530"/>
          </a:xfrm>
          <a:custGeom>
            <a:avLst/>
            <a:gdLst/>
            <a:ahLst/>
            <a:cxnLst/>
            <a:rect l="l" t="t" r="r" b="b"/>
            <a:pathLst>
              <a:path w="1295908" h="74041" extrusionOk="0">
                <a:moveTo>
                  <a:pt x="0" y="36957"/>
                </a:moveTo>
                <a:cubicBezTo>
                  <a:pt x="0" y="16510"/>
                  <a:pt x="16510" y="0"/>
                  <a:pt x="36957" y="0"/>
                </a:cubicBezTo>
                <a:lnTo>
                  <a:pt x="1258951" y="0"/>
                </a:lnTo>
                <a:cubicBezTo>
                  <a:pt x="1279398" y="0"/>
                  <a:pt x="1295908" y="16510"/>
                  <a:pt x="1295908" y="36957"/>
                </a:cubicBezTo>
                <a:cubicBezTo>
                  <a:pt x="1295908" y="57404"/>
                  <a:pt x="1279398" y="73914"/>
                  <a:pt x="1258951" y="73914"/>
                </a:cubicBezTo>
                <a:lnTo>
                  <a:pt x="36957" y="73914"/>
                </a:lnTo>
                <a:cubicBezTo>
                  <a:pt x="16510" y="74041"/>
                  <a:pt x="0" y="57404"/>
                  <a:pt x="0" y="36957"/>
                </a:cubicBezTo>
                <a:close/>
              </a:path>
            </a:pathLst>
          </a:custGeom>
          <a:solidFill>
            <a:srgbClr val="414A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0" name="Google Shape;200;p7"/>
          <p:cNvGrpSpPr/>
          <p:nvPr/>
        </p:nvGrpSpPr>
        <p:grpSpPr>
          <a:xfrm>
            <a:off x="2646834" y="3319909"/>
            <a:ext cx="634461" cy="634461"/>
            <a:chOff x="0" y="0"/>
            <a:chExt cx="845947" cy="845947"/>
          </a:xfrm>
        </p:grpSpPr>
        <p:sp>
          <p:nvSpPr>
            <p:cNvPr id="201" name="Google Shape;201;p7"/>
            <p:cNvSpPr/>
            <p:nvPr/>
          </p:nvSpPr>
          <p:spPr>
            <a:xfrm>
              <a:off x="6350" y="6350"/>
              <a:ext cx="833247" cy="833247"/>
            </a:xfrm>
            <a:custGeom>
              <a:avLst/>
              <a:gdLst/>
              <a:ahLst/>
              <a:cxnLst/>
              <a:rect l="l" t="t" r="r" b="b"/>
              <a:pathLst>
                <a:path w="833247" h="833247" extrusionOk="0">
                  <a:moveTo>
                    <a:pt x="0" y="166624"/>
                  </a:moveTo>
                  <a:cubicBezTo>
                    <a:pt x="0" y="74549"/>
                    <a:pt x="74549" y="0"/>
                    <a:pt x="166624" y="0"/>
                  </a:cubicBezTo>
                  <a:lnTo>
                    <a:pt x="666623" y="0"/>
                  </a:lnTo>
                  <a:cubicBezTo>
                    <a:pt x="758698" y="0"/>
                    <a:pt x="833247" y="74549"/>
                    <a:pt x="833247" y="166624"/>
                  </a:cubicBezTo>
                  <a:lnTo>
                    <a:pt x="833247" y="666623"/>
                  </a:lnTo>
                  <a:cubicBezTo>
                    <a:pt x="833247" y="758698"/>
                    <a:pt x="758698" y="833247"/>
                    <a:pt x="666623" y="833247"/>
                  </a:cubicBezTo>
                  <a:lnTo>
                    <a:pt x="166624" y="833247"/>
                  </a:lnTo>
                  <a:cubicBezTo>
                    <a:pt x="74549" y="833247"/>
                    <a:pt x="0" y="758571"/>
                    <a:pt x="0" y="666623"/>
                  </a:cubicBezTo>
                  <a:close/>
                </a:path>
              </a:pathLst>
            </a:custGeom>
            <a:solidFill>
              <a:srgbClr val="2831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7"/>
            <p:cNvSpPr/>
            <p:nvPr/>
          </p:nvSpPr>
          <p:spPr>
            <a:xfrm>
              <a:off x="0" y="0"/>
              <a:ext cx="845947" cy="845947"/>
            </a:xfrm>
            <a:custGeom>
              <a:avLst/>
              <a:gdLst/>
              <a:ahLst/>
              <a:cxnLst/>
              <a:rect l="l" t="t" r="r" b="b"/>
              <a:pathLst>
                <a:path w="845947" h="845947" extrusionOk="0">
                  <a:moveTo>
                    <a:pt x="0" y="172974"/>
                  </a:moveTo>
                  <a:cubicBezTo>
                    <a:pt x="0" y="77470"/>
                    <a:pt x="77470" y="0"/>
                    <a:pt x="172974" y="0"/>
                  </a:cubicBezTo>
                  <a:lnTo>
                    <a:pt x="672973" y="0"/>
                  </a:lnTo>
                  <a:lnTo>
                    <a:pt x="672973" y="6350"/>
                  </a:lnTo>
                  <a:lnTo>
                    <a:pt x="672973" y="0"/>
                  </a:lnTo>
                  <a:lnTo>
                    <a:pt x="672973" y="6350"/>
                  </a:lnTo>
                  <a:lnTo>
                    <a:pt x="672973" y="0"/>
                  </a:lnTo>
                  <a:cubicBezTo>
                    <a:pt x="768477" y="0"/>
                    <a:pt x="845947" y="77470"/>
                    <a:pt x="845947" y="172974"/>
                  </a:cubicBezTo>
                  <a:lnTo>
                    <a:pt x="839597" y="172974"/>
                  </a:lnTo>
                  <a:lnTo>
                    <a:pt x="845947" y="172974"/>
                  </a:lnTo>
                  <a:lnTo>
                    <a:pt x="845947" y="672973"/>
                  </a:lnTo>
                  <a:lnTo>
                    <a:pt x="839597" y="672973"/>
                  </a:lnTo>
                  <a:lnTo>
                    <a:pt x="845947" y="672973"/>
                  </a:lnTo>
                  <a:cubicBezTo>
                    <a:pt x="845947" y="768477"/>
                    <a:pt x="768477" y="845947"/>
                    <a:pt x="672973" y="845947"/>
                  </a:cubicBezTo>
                  <a:lnTo>
                    <a:pt x="672973" y="839597"/>
                  </a:lnTo>
                  <a:lnTo>
                    <a:pt x="672973" y="845947"/>
                  </a:lnTo>
                  <a:lnTo>
                    <a:pt x="172974" y="845947"/>
                  </a:lnTo>
                  <a:lnTo>
                    <a:pt x="172974" y="839597"/>
                  </a:lnTo>
                  <a:lnTo>
                    <a:pt x="172974" y="845947"/>
                  </a:lnTo>
                  <a:cubicBezTo>
                    <a:pt x="77470" y="845947"/>
                    <a:pt x="0" y="768477"/>
                    <a:pt x="0" y="672973"/>
                  </a:cubicBezTo>
                  <a:lnTo>
                    <a:pt x="0" y="172974"/>
                  </a:lnTo>
                  <a:lnTo>
                    <a:pt x="6350" y="172974"/>
                  </a:lnTo>
                  <a:lnTo>
                    <a:pt x="0" y="172974"/>
                  </a:lnTo>
                  <a:moveTo>
                    <a:pt x="12700" y="172974"/>
                  </a:moveTo>
                  <a:lnTo>
                    <a:pt x="12700" y="672973"/>
                  </a:lnTo>
                  <a:lnTo>
                    <a:pt x="6350" y="672973"/>
                  </a:lnTo>
                  <a:lnTo>
                    <a:pt x="12700" y="672973"/>
                  </a:lnTo>
                  <a:cubicBezTo>
                    <a:pt x="12700" y="761492"/>
                    <a:pt x="84455" y="833247"/>
                    <a:pt x="172974" y="833247"/>
                  </a:cubicBezTo>
                  <a:lnTo>
                    <a:pt x="672973" y="833247"/>
                  </a:lnTo>
                  <a:cubicBezTo>
                    <a:pt x="761492" y="833247"/>
                    <a:pt x="833247" y="761492"/>
                    <a:pt x="833247" y="672973"/>
                  </a:cubicBezTo>
                  <a:lnTo>
                    <a:pt x="833247" y="172974"/>
                  </a:lnTo>
                  <a:cubicBezTo>
                    <a:pt x="833247" y="84455"/>
                    <a:pt x="761492" y="12700"/>
                    <a:pt x="672973" y="12700"/>
                  </a:cubicBezTo>
                  <a:lnTo>
                    <a:pt x="172974" y="12700"/>
                  </a:lnTo>
                  <a:lnTo>
                    <a:pt x="172974" y="6350"/>
                  </a:lnTo>
                  <a:lnTo>
                    <a:pt x="172974" y="12700"/>
                  </a:lnTo>
                  <a:cubicBezTo>
                    <a:pt x="84455" y="12700"/>
                    <a:pt x="12700" y="84455"/>
                    <a:pt x="12700" y="172974"/>
                  </a:cubicBezTo>
                  <a:close/>
                </a:path>
              </a:pathLst>
            </a:custGeom>
            <a:solidFill>
              <a:srgbClr val="414A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3" name="Google Shape;203;p7"/>
          <p:cNvSpPr txBox="1"/>
          <p:nvPr/>
        </p:nvSpPr>
        <p:spPr>
          <a:xfrm>
            <a:off x="2959879" y="3403431"/>
            <a:ext cx="8215" cy="448211"/>
          </a:xfrm>
          <a:prstGeom prst="rect">
            <a:avLst/>
          </a:prstGeom>
          <a:noFill/>
          <a:ln>
            <a:noFill/>
          </a:ln>
        </p:spPr>
        <p:txBody>
          <a:bodyPr spcFirstLastPara="1" wrap="square" lIns="0" tIns="0" rIns="0" bIns="0" anchor="t" anchorCtr="0">
            <a:spAutoFit/>
          </a:bodyPr>
          <a:lstStyle/>
          <a:p>
            <a:pPr marL="0" marR="0" lvl="0" indent="0" algn="ctr" rtl="0">
              <a:lnSpc>
                <a:spcPct val="125068"/>
              </a:lnSpc>
              <a:spcBef>
                <a:spcPts val="0"/>
              </a:spcBef>
              <a:spcAft>
                <a:spcPts val="0"/>
              </a:spcAft>
              <a:buNone/>
            </a:pPr>
            <a:r>
              <a:rPr lang="en-US" sz="3279" b="0" i="0" u="none" strike="noStrike" cap="none">
                <a:solidFill>
                  <a:srgbClr val="EBECEF"/>
                </a:solidFill>
                <a:latin typeface="Fraunces"/>
                <a:ea typeface="Fraunces"/>
                <a:cs typeface="Fraunces"/>
                <a:sym typeface="Fraunces"/>
              </a:rPr>
              <a:t>1</a:t>
            </a:r>
            <a:endParaRPr/>
          </a:p>
        </p:txBody>
      </p:sp>
      <p:sp>
        <p:nvSpPr>
          <p:cNvPr id="204" name="Google Shape;204;p7"/>
          <p:cNvSpPr txBox="1"/>
          <p:nvPr/>
        </p:nvSpPr>
        <p:spPr>
          <a:xfrm>
            <a:off x="4583072" y="3412064"/>
            <a:ext cx="3288982" cy="361593"/>
          </a:xfrm>
          <a:prstGeom prst="rect">
            <a:avLst/>
          </a:prstGeom>
          <a:noFill/>
          <a:ln>
            <a:noFill/>
          </a:ln>
        </p:spPr>
        <p:txBody>
          <a:bodyPr spcFirstLastPara="1" wrap="square" lIns="0" tIns="0" rIns="0" bIns="0" anchor="t" anchorCtr="0">
            <a:spAutoFit/>
          </a:bodyPr>
          <a:lstStyle/>
          <a:p>
            <a:pPr marL="0" marR="0" lvl="0" indent="0" algn="l" rtl="0">
              <a:lnSpc>
                <a:spcPct val="125027"/>
              </a:lnSpc>
              <a:spcBef>
                <a:spcPts val="0"/>
              </a:spcBef>
              <a:spcAft>
                <a:spcPts val="0"/>
              </a:spcAft>
              <a:buNone/>
            </a:pPr>
            <a:r>
              <a:rPr lang="en-US" sz="2733" b="0" i="0" u="none" strike="noStrike" cap="none">
                <a:solidFill>
                  <a:srgbClr val="EBECEF"/>
                </a:solidFill>
                <a:latin typeface="Fraunces"/>
                <a:ea typeface="Fraunces"/>
                <a:cs typeface="Fraunces"/>
                <a:sym typeface="Fraunces"/>
              </a:rPr>
              <a:t>Feasibility Study</a:t>
            </a:r>
            <a:endParaRPr/>
          </a:p>
        </p:txBody>
      </p:sp>
      <p:sp>
        <p:nvSpPr>
          <p:cNvPr id="205" name="Google Shape;205;p7"/>
          <p:cNvSpPr txBox="1"/>
          <p:nvPr/>
        </p:nvSpPr>
        <p:spPr>
          <a:xfrm>
            <a:off x="4583072" y="3936385"/>
            <a:ext cx="11065996" cy="448063"/>
          </a:xfrm>
          <a:prstGeom prst="rect">
            <a:avLst/>
          </a:prstGeom>
          <a:noFill/>
          <a:ln>
            <a:noFill/>
          </a:ln>
        </p:spPr>
        <p:txBody>
          <a:bodyPr spcFirstLastPara="1" wrap="square" lIns="0" tIns="0" rIns="0" bIns="0" anchor="t" anchorCtr="0">
            <a:spAutoFit/>
          </a:bodyPr>
          <a:lstStyle/>
          <a:p>
            <a:pPr marL="0" marR="0" lvl="0" indent="0" algn="l" rtl="0">
              <a:lnSpc>
                <a:spcPct val="159945"/>
              </a:lnSpc>
              <a:spcBef>
                <a:spcPts val="0"/>
              </a:spcBef>
              <a:spcAft>
                <a:spcPts val="0"/>
              </a:spcAft>
              <a:buNone/>
            </a:pPr>
            <a:r>
              <a:rPr lang="en-US" sz="2187" b="0" i="0" u="none" strike="noStrike" cap="none">
                <a:solidFill>
                  <a:srgbClr val="EBECEF"/>
                </a:solidFill>
                <a:latin typeface="Arimo"/>
                <a:ea typeface="Arimo"/>
                <a:cs typeface="Arimo"/>
                <a:sym typeface="Arimo"/>
              </a:rPr>
              <a:t>Conduct a study to evaluate the site and assess waste types.</a:t>
            </a:r>
            <a:endParaRPr/>
          </a:p>
        </p:txBody>
      </p:sp>
      <p:sp>
        <p:nvSpPr>
          <p:cNvPr id="206" name="Google Shape;206;p7"/>
          <p:cNvSpPr/>
          <p:nvPr/>
        </p:nvSpPr>
        <p:spPr>
          <a:xfrm>
            <a:off x="3276525" y="5487219"/>
            <a:ext cx="971931" cy="55531"/>
          </a:xfrm>
          <a:custGeom>
            <a:avLst/>
            <a:gdLst/>
            <a:ahLst/>
            <a:cxnLst/>
            <a:rect l="l" t="t" r="r" b="b"/>
            <a:pathLst>
              <a:path w="1295908" h="74041" extrusionOk="0">
                <a:moveTo>
                  <a:pt x="0" y="36957"/>
                </a:moveTo>
                <a:cubicBezTo>
                  <a:pt x="0" y="16510"/>
                  <a:pt x="16510" y="0"/>
                  <a:pt x="36957" y="0"/>
                </a:cubicBezTo>
                <a:lnTo>
                  <a:pt x="1258951" y="0"/>
                </a:lnTo>
                <a:cubicBezTo>
                  <a:pt x="1279398" y="0"/>
                  <a:pt x="1295908" y="16510"/>
                  <a:pt x="1295908" y="36957"/>
                </a:cubicBezTo>
                <a:cubicBezTo>
                  <a:pt x="1295908" y="57404"/>
                  <a:pt x="1279398" y="73914"/>
                  <a:pt x="1258951" y="73914"/>
                </a:cubicBezTo>
                <a:lnTo>
                  <a:pt x="36957" y="73914"/>
                </a:lnTo>
                <a:cubicBezTo>
                  <a:pt x="16510" y="74041"/>
                  <a:pt x="0" y="57404"/>
                  <a:pt x="0" y="36957"/>
                </a:cubicBezTo>
                <a:close/>
              </a:path>
            </a:pathLst>
          </a:custGeom>
          <a:solidFill>
            <a:srgbClr val="414A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7" name="Google Shape;207;p7"/>
          <p:cNvGrpSpPr/>
          <p:nvPr/>
        </p:nvGrpSpPr>
        <p:grpSpPr>
          <a:xfrm>
            <a:off x="2646834" y="5197822"/>
            <a:ext cx="634461" cy="634461"/>
            <a:chOff x="0" y="0"/>
            <a:chExt cx="845947" cy="845947"/>
          </a:xfrm>
        </p:grpSpPr>
        <p:sp>
          <p:nvSpPr>
            <p:cNvPr id="208" name="Google Shape;208;p7"/>
            <p:cNvSpPr/>
            <p:nvPr/>
          </p:nvSpPr>
          <p:spPr>
            <a:xfrm>
              <a:off x="6350" y="6350"/>
              <a:ext cx="833247" cy="833247"/>
            </a:xfrm>
            <a:custGeom>
              <a:avLst/>
              <a:gdLst/>
              <a:ahLst/>
              <a:cxnLst/>
              <a:rect l="l" t="t" r="r" b="b"/>
              <a:pathLst>
                <a:path w="833247" h="833247" extrusionOk="0">
                  <a:moveTo>
                    <a:pt x="0" y="166624"/>
                  </a:moveTo>
                  <a:cubicBezTo>
                    <a:pt x="0" y="74549"/>
                    <a:pt x="74549" y="0"/>
                    <a:pt x="166624" y="0"/>
                  </a:cubicBezTo>
                  <a:lnTo>
                    <a:pt x="666623" y="0"/>
                  </a:lnTo>
                  <a:cubicBezTo>
                    <a:pt x="758698" y="0"/>
                    <a:pt x="833247" y="74549"/>
                    <a:pt x="833247" y="166624"/>
                  </a:cubicBezTo>
                  <a:lnTo>
                    <a:pt x="833247" y="666623"/>
                  </a:lnTo>
                  <a:cubicBezTo>
                    <a:pt x="833247" y="758698"/>
                    <a:pt x="758698" y="833247"/>
                    <a:pt x="666623" y="833247"/>
                  </a:cubicBezTo>
                  <a:lnTo>
                    <a:pt x="166624" y="833247"/>
                  </a:lnTo>
                  <a:cubicBezTo>
                    <a:pt x="74549" y="833247"/>
                    <a:pt x="0" y="758571"/>
                    <a:pt x="0" y="666623"/>
                  </a:cubicBezTo>
                  <a:close/>
                </a:path>
              </a:pathLst>
            </a:custGeom>
            <a:solidFill>
              <a:srgbClr val="2831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7"/>
            <p:cNvSpPr/>
            <p:nvPr/>
          </p:nvSpPr>
          <p:spPr>
            <a:xfrm>
              <a:off x="0" y="0"/>
              <a:ext cx="845947" cy="845947"/>
            </a:xfrm>
            <a:custGeom>
              <a:avLst/>
              <a:gdLst/>
              <a:ahLst/>
              <a:cxnLst/>
              <a:rect l="l" t="t" r="r" b="b"/>
              <a:pathLst>
                <a:path w="845947" h="845947" extrusionOk="0">
                  <a:moveTo>
                    <a:pt x="0" y="172974"/>
                  </a:moveTo>
                  <a:cubicBezTo>
                    <a:pt x="0" y="77470"/>
                    <a:pt x="77470" y="0"/>
                    <a:pt x="172974" y="0"/>
                  </a:cubicBezTo>
                  <a:lnTo>
                    <a:pt x="672973" y="0"/>
                  </a:lnTo>
                  <a:lnTo>
                    <a:pt x="672973" y="6350"/>
                  </a:lnTo>
                  <a:lnTo>
                    <a:pt x="672973" y="0"/>
                  </a:lnTo>
                  <a:lnTo>
                    <a:pt x="672973" y="6350"/>
                  </a:lnTo>
                  <a:lnTo>
                    <a:pt x="672973" y="0"/>
                  </a:lnTo>
                  <a:cubicBezTo>
                    <a:pt x="768477" y="0"/>
                    <a:pt x="845947" y="77470"/>
                    <a:pt x="845947" y="172974"/>
                  </a:cubicBezTo>
                  <a:lnTo>
                    <a:pt x="839597" y="172974"/>
                  </a:lnTo>
                  <a:lnTo>
                    <a:pt x="845947" y="172974"/>
                  </a:lnTo>
                  <a:lnTo>
                    <a:pt x="845947" y="672973"/>
                  </a:lnTo>
                  <a:lnTo>
                    <a:pt x="839597" y="672973"/>
                  </a:lnTo>
                  <a:lnTo>
                    <a:pt x="845947" y="672973"/>
                  </a:lnTo>
                  <a:cubicBezTo>
                    <a:pt x="845947" y="768477"/>
                    <a:pt x="768477" y="845947"/>
                    <a:pt x="672973" y="845947"/>
                  </a:cubicBezTo>
                  <a:lnTo>
                    <a:pt x="672973" y="839597"/>
                  </a:lnTo>
                  <a:lnTo>
                    <a:pt x="672973" y="845947"/>
                  </a:lnTo>
                  <a:lnTo>
                    <a:pt x="172974" y="845947"/>
                  </a:lnTo>
                  <a:lnTo>
                    <a:pt x="172974" y="839597"/>
                  </a:lnTo>
                  <a:lnTo>
                    <a:pt x="172974" y="845947"/>
                  </a:lnTo>
                  <a:cubicBezTo>
                    <a:pt x="77470" y="845947"/>
                    <a:pt x="0" y="768477"/>
                    <a:pt x="0" y="672973"/>
                  </a:cubicBezTo>
                  <a:lnTo>
                    <a:pt x="0" y="172974"/>
                  </a:lnTo>
                  <a:lnTo>
                    <a:pt x="6350" y="172974"/>
                  </a:lnTo>
                  <a:lnTo>
                    <a:pt x="0" y="172974"/>
                  </a:lnTo>
                  <a:moveTo>
                    <a:pt x="12700" y="172974"/>
                  </a:moveTo>
                  <a:lnTo>
                    <a:pt x="12700" y="672973"/>
                  </a:lnTo>
                  <a:lnTo>
                    <a:pt x="6350" y="672973"/>
                  </a:lnTo>
                  <a:lnTo>
                    <a:pt x="12700" y="672973"/>
                  </a:lnTo>
                  <a:cubicBezTo>
                    <a:pt x="12700" y="761492"/>
                    <a:pt x="84455" y="833247"/>
                    <a:pt x="172974" y="833247"/>
                  </a:cubicBezTo>
                  <a:lnTo>
                    <a:pt x="672973" y="833247"/>
                  </a:lnTo>
                  <a:cubicBezTo>
                    <a:pt x="761492" y="833247"/>
                    <a:pt x="833247" y="761492"/>
                    <a:pt x="833247" y="672973"/>
                  </a:cubicBezTo>
                  <a:lnTo>
                    <a:pt x="833247" y="172974"/>
                  </a:lnTo>
                  <a:cubicBezTo>
                    <a:pt x="833247" y="84455"/>
                    <a:pt x="761492" y="12700"/>
                    <a:pt x="672973" y="12700"/>
                  </a:cubicBezTo>
                  <a:lnTo>
                    <a:pt x="172974" y="12700"/>
                  </a:lnTo>
                  <a:lnTo>
                    <a:pt x="172974" y="6350"/>
                  </a:lnTo>
                  <a:lnTo>
                    <a:pt x="172974" y="12700"/>
                  </a:lnTo>
                  <a:cubicBezTo>
                    <a:pt x="84455" y="12700"/>
                    <a:pt x="12700" y="84455"/>
                    <a:pt x="12700" y="172974"/>
                  </a:cubicBezTo>
                  <a:close/>
                </a:path>
              </a:pathLst>
            </a:custGeom>
            <a:solidFill>
              <a:srgbClr val="414A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0" name="Google Shape;210;p7"/>
          <p:cNvSpPr txBox="1"/>
          <p:nvPr/>
        </p:nvSpPr>
        <p:spPr>
          <a:xfrm>
            <a:off x="2929220" y="5281345"/>
            <a:ext cx="69681" cy="448211"/>
          </a:xfrm>
          <a:prstGeom prst="rect">
            <a:avLst/>
          </a:prstGeom>
          <a:noFill/>
          <a:ln>
            <a:noFill/>
          </a:ln>
        </p:spPr>
        <p:txBody>
          <a:bodyPr spcFirstLastPara="1" wrap="square" lIns="0" tIns="0" rIns="0" bIns="0" anchor="t" anchorCtr="0">
            <a:spAutoFit/>
          </a:bodyPr>
          <a:lstStyle/>
          <a:p>
            <a:pPr marL="0" marR="0" lvl="0" indent="0" algn="ctr" rtl="0">
              <a:lnSpc>
                <a:spcPct val="125068"/>
              </a:lnSpc>
              <a:spcBef>
                <a:spcPts val="0"/>
              </a:spcBef>
              <a:spcAft>
                <a:spcPts val="0"/>
              </a:spcAft>
              <a:buNone/>
            </a:pPr>
            <a:r>
              <a:rPr lang="en-US" sz="3279" b="0" i="0" u="none" strike="noStrike" cap="none">
                <a:solidFill>
                  <a:srgbClr val="EBECEF"/>
                </a:solidFill>
                <a:latin typeface="Fraunces"/>
                <a:ea typeface="Fraunces"/>
                <a:cs typeface="Fraunces"/>
                <a:sym typeface="Fraunces"/>
              </a:rPr>
              <a:t>2</a:t>
            </a:r>
            <a:endParaRPr/>
          </a:p>
        </p:txBody>
      </p:sp>
      <p:sp>
        <p:nvSpPr>
          <p:cNvPr id="211" name="Google Shape;211;p7"/>
          <p:cNvSpPr txBox="1"/>
          <p:nvPr/>
        </p:nvSpPr>
        <p:spPr>
          <a:xfrm>
            <a:off x="4583072" y="5124450"/>
            <a:ext cx="3372326" cy="858901"/>
          </a:xfrm>
          <a:prstGeom prst="rect">
            <a:avLst/>
          </a:prstGeom>
          <a:noFill/>
          <a:ln>
            <a:noFill/>
          </a:ln>
        </p:spPr>
        <p:txBody>
          <a:bodyPr spcFirstLastPara="1" wrap="square" lIns="0" tIns="0" rIns="0" bIns="0" anchor="t" anchorCtr="0">
            <a:spAutoFit/>
          </a:bodyPr>
          <a:lstStyle/>
          <a:p>
            <a:pPr marL="0" marR="0" lvl="0" indent="0" algn="l" rtl="0">
              <a:lnSpc>
                <a:spcPct val="125027"/>
              </a:lnSpc>
              <a:spcBef>
                <a:spcPts val="0"/>
              </a:spcBef>
              <a:spcAft>
                <a:spcPts val="0"/>
              </a:spcAft>
              <a:buNone/>
            </a:pPr>
            <a:r>
              <a:rPr lang="en-US" sz="2733" b="0" i="0" u="none" strike="noStrike" cap="none">
                <a:solidFill>
                  <a:srgbClr val="EBECEF"/>
                </a:solidFill>
                <a:latin typeface="Fraunces"/>
                <a:ea typeface="Fraunces"/>
                <a:cs typeface="Fraunces"/>
                <a:sym typeface="Fraunces"/>
              </a:rPr>
              <a:t>Installation &amp; Testing</a:t>
            </a:r>
            <a:endParaRPr/>
          </a:p>
        </p:txBody>
      </p:sp>
      <p:sp>
        <p:nvSpPr>
          <p:cNvPr id="212" name="Google Shape;212;p7"/>
          <p:cNvSpPr txBox="1"/>
          <p:nvPr/>
        </p:nvSpPr>
        <p:spPr>
          <a:xfrm>
            <a:off x="4583072" y="5976014"/>
            <a:ext cx="11065996" cy="448063"/>
          </a:xfrm>
          <a:prstGeom prst="rect">
            <a:avLst/>
          </a:prstGeom>
          <a:noFill/>
          <a:ln>
            <a:noFill/>
          </a:ln>
        </p:spPr>
        <p:txBody>
          <a:bodyPr spcFirstLastPara="1" wrap="square" lIns="0" tIns="0" rIns="0" bIns="0" anchor="t" anchorCtr="0">
            <a:spAutoFit/>
          </a:bodyPr>
          <a:lstStyle/>
          <a:p>
            <a:pPr marL="0" marR="0" lvl="0" indent="0" algn="l" rtl="0">
              <a:lnSpc>
                <a:spcPct val="159945"/>
              </a:lnSpc>
              <a:spcBef>
                <a:spcPts val="0"/>
              </a:spcBef>
              <a:spcAft>
                <a:spcPts val="0"/>
              </a:spcAft>
              <a:buNone/>
            </a:pPr>
            <a:r>
              <a:rPr lang="en-US" sz="2187" b="0" i="0" u="none" strike="noStrike" cap="none">
                <a:solidFill>
                  <a:srgbClr val="EBECEF"/>
                </a:solidFill>
                <a:latin typeface="Arimo"/>
                <a:ea typeface="Arimo"/>
                <a:cs typeface="Arimo"/>
                <a:sym typeface="Arimo"/>
              </a:rPr>
              <a:t>Implement the AI system and conduct comprehensive testing.</a:t>
            </a:r>
            <a:endParaRPr/>
          </a:p>
        </p:txBody>
      </p:sp>
      <p:sp>
        <p:nvSpPr>
          <p:cNvPr id="213" name="Google Shape;213;p7"/>
          <p:cNvSpPr/>
          <p:nvPr/>
        </p:nvSpPr>
        <p:spPr>
          <a:xfrm>
            <a:off x="3276525" y="7365131"/>
            <a:ext cx="971931" cy="55531"/>
          </a:xfrm>
          <a:custGeom>
            <a:avLst/>
            <a:gdLst/>
            <a:ahLst/>
            <a:cxnLst/>
            <a:rect l="l" t="t" r="r" b="b"/>
            <a:pathLst>
              <a:path w="1295908" h="74041" extrusionOk="0">
                <a:moveTo>
                  <a:pt x="0" y="36957"/>
                </a:moveTo>
                <a:cubicBezTo>
                  <a:pt x="0" y="16510"/>
                  <a:pt x="16510" y="0"/>
                  <a:pt x="36957" y="0"/>
                </a:cubicBezTo>
                <a:lnTo>
                  <a:pt x="1258951" y="0"/>
                </a:lnTo>
                <a:cubicBezTo>
                  <a:pt x="1279398" y="0"/>
                  <a:pt x="1295908" y="16510"/>
                  <a:pt x="1295908" y="36957"/>
                </a:cubicBezTo>
                <a:cubicBezTo>
                  <a:pt x="1295908" y="57404"/>
                  <a:pt x="1279398" y="73914"/>
                  <a:pt x="1258951" y="73914"/>
                </a:cubicBezTo>
                <a:lnTo>
                  <a:pt x="36957" y="73914"/>
                </a:lnTo>
                <a:cubicBezTo>
                  <a:pt x="16510" y="74041"/>
                  <a:pt x="0" y="57404"/>
                  <a:pt x="0" y="36957"/>
                </a:cubicBezTo>
                <a:close/>
              </a:path>
            </a:pathLst>
          </a:custGeom>
          <a:solidFill>
            <a:srgbClr val="414A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4" name="Google Shape;214;p7"/>
          <p:cNvGrpSpPr/>
          <p:nvPr/>
        </p:nvGrpSpPr>
        <p:grpSpPr>
          <a:xfrm>
            <a:off x="2646834" y="7075735"/>
            <a:ext cx="634461" cy="634461"/>
            <a:chOff x="0" y="0"/>
            <a:chExt cx="845947" cy="845947"/>
          </a:xfrm>
        </p:grpSpPr>
        <p:sp>
          <p:nvSpPr>
            <p:cNvPr id="215" name="Google Shape;215;p7"/>
            <p:cNvSpPr/>
            <p:nvPr/>
          </p:nvSpPr>
          <p:spPr>
            <a:xfrm>
              <a:off x="6350" y="6350"/>
              <a:ext cx="833247" cy="833247"/>
            </a:xfrm>
            <a:custGeom>
              <a:avLst/>
              <a:gdLst/>
              <a:ahLst/>
              <a:cxnLst/>
              <a:rect l="l" t="t" r="r" b="b"/>
              <a:pathLst>
                <a:path w="833247" h="833247" extrusionOk="0">
                  <a:moveTo>
                    <a:pt x="0" y="166624"/>
                  </a:moveTo>
                  <a:cubicBezTo>
                    <a:pt x="0" y="74549"/>
                    <a:pt x="74549" y="0"/>
                    <a:pt x="166624" y="0"/>
                  </a:cubicBezTo>
                  <a:lnTo>
                    <a:pt x="666623" y="0"/>
                  </a:lnTo>
                  <a:cubicBezTo>
                    <a:pt x="758698" y="0"/>
                    <a:pt x="833247" y="74549"/>
                    <a:pt x="833247" y="166624"/>
                  </a:cubicBezTo>
                  <a:lnTo>
                    <a:pt x="833247" y="666623"/>
                  </a:lnTo>
                  <a:cubicBezTo>
                    <a:pt x="833247" y="758698"/>
                    <a:pt x="758698" y="833247"/>
                    <a:pt x="666623" y="833247"/>
                  </a:cubicBezTo>
                  <a:lnTo>
                    <a:pt x="166624" y="833247"/>
                  </a:lnTo>
                  <a:cubicBezTo>
                    <a:pt x="74549" y="833247"/>
                    <a:pt x="0" y="758571"/>
                    <a:pt x="0" y="666623"/>
                  </a:cubicBezTo>
                  <a:close/>
                </a:path>
              </a:pathLst>
            </a:custGeom>
            <a:solidFill>
              <a:srgbClr val="2831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7"/>
            <p:cNvSpPr/>
            <p:nvPr/>
          </p:nvSpPr>
          <p:spPr>
            <a:xfrm>
              <a:off x="0" y="0"/>
              <a:ext cx="845947" cy="845947"/>
            </a:xfrm>
            <a:custGeom>
              <a:avLst/>
              <a:gdLst/>
              <a:ahLst/>
              <a:cxnLst/>
              <a:rect l="l" t="t" r="r" b="b"/>
              <a:pathLst>
                <a:path w="845947" h="845947" extrusionOk="0">
                  <a:moveTo>
                    <a:pt x="0" y="172974"/>
                  </a:moveTo>
                  <a:cubicBezTo>
                    <a:pt x="0" y="77470"/>
                    <a:pt x="77470" y="0"/>
                    <a:pt x="172974" y="0"/>
                  </a:cubicBezTo>
                  <a:lnTo>
                    <a:pt x="672973" y="0"/>
                  </a:lnTo>
                  <a:lnTo>
                    <a:pt x="672973" y="6350"/>
                  </a:lnTo>
                  <a:lnTo>
                    <a:pt x="672973" y="0"/>
                  </a:lnTo>
                  <a:lnTo>
                    <a:pt x="672973" y="6350"/>
                  </a:lnTo>
                  <a:lnTo>
                    <a:pt x="672973" y="0"/>
                  </a:lnTo>
                  <a:cubicBezTo>
                    <a:pt x="768477" y="0"/>
                    <a:pt x="845947" y="77470"/>
                    <a:pt x="845947" y="172974"/>
                  </a:cubicBezTo>
                  <a:lnTo>
                    <a:pt x="839597" y="172974"/>
                  </a:lnTo>
                  <a:lnTo>
                    <a:pt x="845947" y="172974"/>
                  </a:lnTo>
                  <a:lnTo>
                    <a:pt x="845947" y="672973"/>
                  </a:lnTo>
                  <a:lnTo>
                    <a:pt x="839597" y="672973"/>
                  </a:lnTo>
                  <a:lnTo>
                    <a:pt x="845947" y="672973"/>
                  </a:lnTo>
                  <a:cubicBezTo>
                    <a:pt x="845947" y="768477"/>
                    <a:pt x="768477" y="845947"/>
                    <a:pt x="672973" y="845947"/>
                  </a:cubicBezTo>
                  <a:lnTo>
                    <a:pt x="672973" y="839597"/>
                  </a:lnTo>
                  <a:lnTo>
                    <a:pt x="672973" y="845947"/>
                  </a:lnTo>
                  <a:lnTo>
                    <a:pt x="172974" y="845947"/>
                  </a:lnTo>
                  <a:lnTo>
                    <a:pt x="172974" y="839597"/>
                  </a:lnTo>
                  <a:lnTo>
                    <a:pt x="172974" y="845947"/>
                  </a:lnTo>
                  <a:cubicBezTo>
                    <a:pt x="77470" y="845947"/>
                    <a:pt x="0" y="768477"/>
                    <a:pt x="0" y="672973"/>
                  </a:cubicBezTo>
                  <a:lnTo>
                    <a:pt x="0" y="172974"/>
                  </a:lnTo>
                  <a:lnTo>
                    <a:pt x="6350" y="172974"/>
                  </a:lnTo>
                  <a:lnTo>
                    <a:pt x="0" y="172974"/>
                  </a:lnTo>
                  <a:moveTo>
                    <a:pt x="12700" y="172974"/>
                  </a:moveTo>
                  <a:lnTo>
                    <a:pt x="12700" y="672973"/>
                  </a:lnTo>
                  <a:lnTo>
                    <a:pt x="6350" y="672973"/>
                  </a:lnTo>
                  <a:lnTo>
                    <a:pt x="12700" y="672973"/>
                  </a:lnTo>
                  <a:cubicBezTo>
                    <a:pt x="12700" y="761492"/>
                    <a:pt x="84455" y="833247"/>
                    <a:pt x="172974" y="833247"/>
                  </a:cubicBezTo>
                  <a:lnTo>
                    <a:pt x="672973" y="833247"/>
                  </a:lnTo>
                  <a:cubicBezTo>
                    <a:pt x="761492" y="833247"/>
                    <a:pt x="833247" y="761492"/>
                    <a:pt x="833247" y="672973"/>
                  </a:cubicBezTo>
                  <a:lnTo>
                    <a:pt x="833247" y="172974"/>
                  </a:lnTo>
                  <a:cubicBezTo>
                    <a:pt x="833247" y="84455"/>
                    <a:pt x="761492" y="12700"/>
                    <a:pt x="672973" y="12700"/>
                  </a:cubicBezTo>
                  <a:lnTo>
                    <a:pt x="172974" y="12700"/>
                  </a:lnTo>
                  <a:lnTo>
                    <a:pt x="172974" y="6350"/>
                  </a:lnTo>
                  <a:lnTo>
                    <a:pt x="172974" y="12700"/>
                  </a:lnTo>
                  <a:cubicBezTo>
                    <a:pt x="84455" y="12700"/>
                    <a:pt x="12700" y="84455"/>
                    <a:pt x="12700" y="172974"/>
                  </a:cubicBezTo>
                  <a:close/>
                </a:path>
              </a:pathLst>
            </a:custGeom>
            <a:solidFill>
              <a:srgbClr val="414A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7" name="Google Shape;217;p7"/>
          <p:cNvSpPr txBox="1"/>
          <p:nvPr/>
        </p:nvSpPr>
        <p:spPr>
          <a:xfrm>
            <a:off x="2940382" y="7159257"/>
            <a:ext cx="47209" cy="448211"/>
          </a:xfrm>
          <a:prstGeom prst="rect">
            <a:avLst/>
          </a:prstGeom>
          <a:noFill/>
          <a:ln>
            <a:noFill/>
          </a:ln>
        </p:spPr>
        <p:txBody>
          <a:bodyPr spcFirstLastPara="1" wrap="square" lIns="0" tIns="0" rIns="0" bIns="0" anchor="t" anchorCtr="0">
            <a:spAutoFit/>
          </a:bodyPr>
          <a:lstStyle/>
          <a:p>
            <a:pPr marL="0" marR="0" lvl="0" indent="0" algn="ctr" rtl="0">
              <a:lnSpc>
                <a:spcPct val="125068"/>
              </a:lnSpc>
              <a:spcBef>
                <a:spcPts val="0"/>
              </a:spcBef>
              <a:spcAft>
                <a:spcPts val="0"/>
              </a:spcAft>
              <a:buNone/>
            </a:pPr>
            <a:r>
              <a:rPr lang="en-US" sz="3279" b="0" i="0" u="none" strike="noStrike" cap="none">
                <a:solidFill>
                  <a:srgbClr val="EBECEF"/>
                </a:solidFill>
                <a:latin typeface="Fraunces"/>
                <a:ea typeface="Fraunces"/>
                <a:cs typeface="Fraunces"/>
                <a:sym typeface="Fraunces"/>
              </a:rPr>
              <a:t>3</a:t>
            </a:r>
            <a:endParaRPr/>
          </a:p>
        </p:txBody>
      </p:sp>
      <p:sp>
        <p:nvSpPr>
          <p:cNvPr id="218" name="Google Shape;218;p7"/>
          <p:cNvSpPr txBox="1"/>
          <p:nvPr/>
        </p:nvSpPr>
        <p:spPr>
          <a:xfrm>
            <a:off x="4583072" y="6981668"/>
            <a:ext cx="3802886" cy="858901"/>
          </a:xfrm>
          <a:prstGeom prst="rect">
            <a:avLst/>
          </a:prstGeom>
          <a:noFill/>
          <a:ln>
            <a:noFill/>
          </a:ln>
        </p:spPr>
        <p:txBody>
          <a:bodyPr spcFirstLastPara="1" wrap="square" lIns="0" tIns="0" rIns="0" bIns="0" anchor="t" anchorCtr="0">
            <a:spAutoFit/>
          </a:bodyPr>
          <a:lstStyle/>
          <a:p>
            <a:pPr marL="0" marR="0" lvl="0" indent="0" algn="l" rtl="0">
              <a:lnSpc>
                <a:spcPct val="125027"/>
              </a:lnSpc>
              <a:spcBef>
                <a:spcPts val="0"/>
              </a:spcBef>
              <a:spcAft>
                <a:spcPts val="0"/>
              </a:spcAft>
              <a:buNone/>
            </a:pPr>
            <a:r>
              <a:rPr lang="en-US" sz="2733" b="0" i="0" u="none" strike="noStrike" cap="none">
                <a:solidFill>
                  <a:srgbClr val="EBECEF"/>
                </a:solidFill>
                <a:latin typeface="Fraunces"/>
                <a:ea typeface="Fraunces"/>
                <a:cs typeface="Fraunces"/>
                <a:sym typeface="Fraunces"/>
              </a:rPr>
              <a:t>Training &amp; Maintenance</a:t>
            </a:r>
            <a:endParaRPr/>
          </a:p>
        </p:txBody>
      </p:sp>
      <p:sp>
        <p:nvSpPr>
          <p:cNvPr id="219" name="Google Shape;219;p7"/>
          <p:cNvSpPr txBox="1"/>
          <p:nvPr/>
        </p:nvSpPr>
        <p:spPr>
          <a:xfrm>
            <a:off x="4583072" y="8015644"/>
            <a:ext cx="11065996" cy="448063"/>
          </a:xfrm>
          <a:prstGeom prst="rect">
            <a:avLst/>
          </a:prstGeom>
          <a:noFill/>
          <a:ln>
            <a:noFill/>
          </a:ln>
        </p:spPr>
        <p:txBody>
          <a:bodyPr spcFirstLastPara="1" wrap="square" lIns="0" tIns="0" rIns="0" bIns="0" anchor="t" anchorCtr="0">
            <a:spAutoFit/>
          </a:bodyPr>
          <a:lstStyle/>
          <a:p>
            <a:pPr marL="0" marR="0" lvl="0" indent="0" algn="l" rtl="0">
              <a:lnSpc>
                <a:spcPct val="159945"/>
              </a:lnSpc>
              <a:spcBef>
                <a:spcPts val="0"/>
              </a:spcBef>
              <a:spcAft>
                <a:spcPts val="0"/>
              </a:spcAft>
              <a:buNone/>
            </a:pPr>
            <a:r>
              <a:rPr lang="en-US" sz="2187" b="0" i="0" u="none" strike="noStrike" cap="none">
                <a:solidFill>
                  <a:srgbClr val="EBECEF"/>
                </a:solidFill>
                <a:latin typeface="Arimo"/>
                <a:ea typeface="Arimo"/>
                <a:cs typeface="Arimo"/>
                <a:sym typeface="Arimo"/>
              </a:rPr>
              <a:t>Train staff and establish regular maintenance protocols.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8"/>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A8AFCC"/>
          </a:solidFill>
          <a:ln>
            <a:noFill/>
          </a:ln>
        </p:spPr>
      </p:sp>
      <p:sp>
        <p:nvSpPr>
          <p:cNvPr id="225" name="Google Shape;225;p8"/>
          <p:cNvSpPr/>
          <p:nvPr/>
        </p:nvSpPr>
        <p:spPr>
          <a:xfrm>
            <a:off x="-104775"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080E26"/>
          </a:solidFill>
          <a:ln>
            <a:noFill/>
          </a:ln>
        </p:spPr>
      </p:sp>
      <p:sp>
        <p:nvSpPr>
          <p:cNvPr id="226" name="Google Shape;226;p8" descr="preencoded.png"/>
          <p:cNvSpPr/>
          <p:nvPr/>
        </p:nvSpPr>
        <p:spPr>
          <a:xfrm>
            <a:off x="0" y="0"/>
            <a:ext cx="18288000" cy="3471862"/>
          </a:xfrm>
          <a:custGeom>
            <a:avLst/>
            <a:gdLst/>
            <a:ahLst/>
            <a:cxnLst/>
            <a:rect l="l" t="t" r="r" b="b"/>
            <a:pathLst>
              <a:path w="18288000" h="3471862" extrusionOk="0">
                <a:moveTo>
                  <a:pt x="0" y="0"/>
                </a:moveTo>
                <a:lnTo>
                  <a:pt x="18288000" y="0"/>
                </a:lnTo>
                <a:lnTo>
                  <a:pt x="18288000" y="3471862"/>
                </a:lnTo>
                <a:lnTo>
                  <a:pt x="0" y="3471862"/>
                </a:lnTo>
                <a:lnTo>
                  <a:pt x="0" y="0"/>
                </a:lnTo>
                <a:close/>
              </a:path>
            </a:pathLst>
          </a:custGeom>
          <a:blipFill rotWithShape="1">
            <a:blip r:embed="rId3">
              <a:alphaModFix/>
            </a:blip>
            <a:stretch>
              <a:fillRect t="-67" b="-67"/>
            </a:stretch>
          </a:blipFill>
          <a:ln>
            <a:noFill/>
          </a:ln>
        </p:spPr>
      </p:sp>
      <p:sp>
        <p:nvSpPr>
          <p:cNvPr id="227" name="Google Shape;227;p8"/>
          <p:cNvSpPr txBox="1"/>
          <p:nvPr/>
        </p:nvSpPr>
        <p:spPr>
          <a:xfrm>
            <a:off x="2542729" y="4158433"/>
            <a:ext cx="8957399" cy="1727129"/>
          </a:xfrm>
          <a:prstGeom prst="rect">
            <a:avLst/>
          </a:prstGeom>
          <a:noFill/>
          <a:ln>
            <a:noFill/>
          </a:ln>
        </p:spPr>
        <p:txBody>
          <a:bodyPr spcFirstLastPara="1" wrap="square" lIns="0" tIns="0" rIns="0" bIns="0" anchor="t" anchorCtr="0">
            <a:spAutoFit/>
          </a:bodyPr>
          <a:lstStyle/>
          <a:p>
            <a:pPr marL="0" marR="0" lvl="0" indent="0" algn="l" rtl="0">
              <a:lnSpc>
                <a:spcPct val="125004"/>
              </a:lnSpc>
              <a:spcBef>
                <a:spcPts val="0"/>
              </a:spcBef>
              <a:spcAft>
                <a:spcPts val="0"/>
              </a:spcAft>
              <a:buNone/>
            </a:pPr>
            <a:r>
              <a:rPr lang="en-US" sz="5467" b="0" i="0" u="none" strike="noStrike" cap="none">
                <a:solidFill>
                  <a:srgbClr val="FFFFFF"/>
                </a:solidFill>
                <a:latin typeface="Fraunces"/>
                <a:ea typeface="Fraunces"/>
                <a:cs typeface="Fraunces"/>
                <a:sym typeface="Fraunces"/>
              </a:rPr>
              <a:t>Results and Positive Impact</a:t>
            </a:r>
            <a:endParaRPr/>
          </a:p>
        </p:txBody>
      </p:sp>
      <p:grpSp>
        <p:nvGrpSpPr>
          <p:cNvPr id="228" name="Google Shape;228;p8"/>
          <p:cNvGrpSpPr/>
          <p:nvPr/>
        </p:nvGrpSpPr>
        <p:grpSpPr>
          <a:xfrm>
            <a:off x="2542729" y="6262985"/>
            <a:ext cx="6467189" cy="2517267"/>
            <a:chOff x="0" y="0"/>
            <a:chExt cx="8622919" cy="3356356"/>
          </a:xfrm>
        </p:grpSpPr>
        <p:sp>
          <p:nvSpPr>
            <p:cNvPr id="229" name="Google Shape;229;p8"/>
            <p:cNvSpPr/>
            <p:nvPr/>
          </p:nvSpPr>
          <p:spPr>
            <a:xfrm>
              <a:off x="6350" y="6350"/>
              <a:ext cx="8610219" cy="3343656"/>
            </a:xfrm>
            <a:custGeom>
              <a:avLst/>
              <a:gdLst/>
              <a:ahLst/>
              <a:cxnLst/>
              <a:rect l="l" t="t" r="r" b="b"/>
              <a:pathLst>
                <a:path w="8610219" h="3343656" extrusionOk="0">
                  <a:moveTo>
                    <a:pt x="0" y="166624"/>
                  </a:moveTo>
                  <a:cubicBezTo>
                    <a:pt x="0" y="74549"/>
                    <a:pt x="74803" y="0"/>
                    <a:pt x="167005" y="0"/>
                  </a:cubicBezTo>
                  <a:lnTo>
                    <a:pt x="8443214" y="0"/>
                  </a:lnTo>
                  <a:cubicBezTo>
                    <a:pt x="8535416" y="0"/>
                    <a:pt x="8610219" y="74549"/>
                    <a:pt x="8610219" y="166624"/>
                  </a:cubicBezTo>
                  <a:lnTo>
                    <a:pt x="8610219" y="3177032"/>
                  </a:lnTo>
                  <a:cubicBezTo>
                    <a:pt x="8610219" y="3269107"/>
                    <a:pt x="8535416" y="3343656"/>
                    <a:pt x="8443214" y="3343656"/>
                  </a:cubicBezTo>
                  <a:lnTo>
                    <a:pt x="167005" y="3343656"/>
                  </a:lnTo>
                  <a:cubicBezTo>
                    <a:pt x="74803" y="3343656"/>
                    <a:pt x="0" y="3269107"/>
                    <a:pt x="0" y="3177032"/>
                  </a:cubicBezTo>
                  <a:close/>
                </a:path>
              </a:pathLst>
            </a:custGeom>
            <a:solidFill>
              <a:srgbClr val="2831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8"/>
            <p:cNvSpPr/>
            <p:nvPr/>
          </p:nvSpPr>
          <p:spPr>
            <a:xfrm>
              <a:off x="0" y="0"/>
              <a:ext cx="8622919" cy="3356356"/>
            </a:xfrm>
            <a:custGeom>
              <a:avLst/>
              <a:gdLst/>
              <a:ahLst/>
              <a:cxnLst/>
              <a:rect l="l" t="t" r="r" b="b"/>
              <a:pathLst>
                <a:path w="8622919" h="3356356" extrusionOk="0">
                  <a:moveTo>
                    <a:pt x="0" y="172974"/>
                  </a:moveTo>
                  <a:cubicBezTo>
                    <a:pt x="0" y="77470"/>
                    <a:pt x="77597" y="0"/>
                    <a:pt x="173355" y="0"/>
                  </a:cubicBezTo>
                  <a:lnTo>
                    <a:pt x="8449564" y="0"/>
                  </a:lnTo>
                  <a:lnTo>
                    <a:pt x="8449564" y="6350"/>
                  </a:lnTo>
                  <a:lnTo>
                    <a:pt x="8449564" y="0"/>
                  </a:lnTo>
                  <a:cubicBezTo>
                    <a:pt x="8545322" y="0"/>
                    <a:pt x="8622919" y="77470"/>
                    <a:pt x="8622919" y="172974"/>
                  </a:cubicBezTo>
                  <a:lnTo>
                    <a:pt x="8616569" y="172974"/>
                  </a:lnTo>
                  <a:lnTo>
                    <a:pt x="8622919" y="172974"/>
                  </a:lnTo>
                  <a:lnTo>
                    <a:pt x="8622919" y="3183382"/>
                  </a:lnTo>
                  <a:lnTo>
                    <a:pt x="8616569" y="3183382"/>
                  </a:lnTo>
                  <a:lnTo>
                    <a:pt x="8622919" y="3183382"/>
                  </a:lnTo>
                  <a:cubicBezTo>
                    <a:pt x="8622919" y="3278886"/>
                    <a:pt x="8545322" y="3356356"/>
                    <a:pt x="8449564" y="3356356"/>
                  </a:cubicBezTo>
                  <a:lnTo>
                    <a:pt x="8449564" y="3350006"/>
                  </a:lnTo>
                  <a:lnTo>
                    <a:pt x="8449564" y="3356356"/>
                  </a:lnTo>
                  <a:lnTo>
                    <a:pt x="173355" y="3356356"/>
                  </a:lnTo>
                  <a:lnTo>
                    <a:pt x="173355" y="3350006"/>
                  </a:lnTo>
                  <a:lnTo>
                    <a:pt x="173355" y="3356356"/>
                  </a:lnTo>
                  <a:cubicBezTo>
                    <a:pt x="77597" y="3356356"/>
                    <a:pt x="0" y="3278886"/>
                    <a:pt x="0" y="3183382"/>
                  </a:cubicBezTo>
                  <a:lnTo>
                    <a:pt x="0" y="172974"/>
                  </a:lnTo>
                  <a:lnTo>
                    <a:pt x="6350" y="172974"/>
                  </a:lnTo>
                  <a:lnTo>
                    <a:pt x="0" y="172974"/>
                  </a:lnTo>
                  <a:moveTo>
                    <a:pt x="12700" y="172974"/>
                  </a:moveTo>
                  <a:lnTo>
                    <a:pt x="12700" y="3183382"/>
                  </a:lnTo>
                  <a:lnTo>
                    <a:pt x="6350" y="3183382"/>
                  </a:lnTo>
                  <a:lnTo>
                    <a:pt x="12700" y="3183382"/>
                  </a:lnTo>
                  <a:cubicBezTo>
                    <a:pt x="12700" y="3271901"/>
                    <a:pt x="84582" y="3343656"/>
                    <a:pt x="173355" y="3343656"/>
                  </a:cubicBezTo>
                  <a:lnTo>
                    <a:pt x="8449564" y="3343656"/>
                  </a:lnTo>
                  <a:cubicBezTo>
                    <a:pt x="8538337" y="3343656"/>
                    <a:pt x="8610219" y="3271901"/>
                    <a:pt x="8610219" y="3183382"/>
                  </a:cubicBezTo>
                  <a:lnTo>
                    <a:pt x="8610219" y="172974"/>
                  </a:lnTo>
                  <a:cubicBezTo>
                    <a:pt x="8610219" y="84455"/>
                    <a:pt x="8538337" y="12700"/>
                    <a:pt x="8449564" y="12700"/>
                  </a:cubicBezTo>
                  <a:lnTo>
                    <a:pt x="173355" y="12700"/>
                  </a:lnTo>
                  <a:lnTo>
                    <a:pt x="173355" y="6350"/>
                  </a:lnTo>
                  <a:lnTo>
                    <a:pt x="173355" y="12700"/>
                  </a:lnTo>
                  <a:cubicBezTo>
                    <a:pt x="84582" y="12700"/>
                    <a:pt x="12700" y="84455"/>
                    <a:pt x="12700" y="172974"/>
                  </a:cubicBezTo>
                  <a:close/>
                </a:path>
              </a:pathLst>
            </a:custGeom>
            <a:solidFill>
              <a:srgbClr val="414A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1" name="Google Shape;231;p8"/>
          <p:cNvSpPr txBox="1"/>
          <p:nvPr/>
        </p:nvSpPr>
        <p:spPr>
          <a:xfrm>
            <a:off x="2926169" y="6581656"/>
            <a:ext cx="3288982" cy="361593"/>
          </a:xfrm>
          <a:prstGeom prst="rect">
            <a:avLst/>
          </a:prstGeom>
          <a:noFill/>
          <a:ln>
            <a:noFill/>
          </a:ln>
        </p:spPr>
        <p:txBody>
          <a:bodyPr spcFirstLastPara="1" wrap="square" lIns="0" tIns="0" rIns="0" bIns="0" anchor="t" anchorCtr="0">
            <a:spAutoFit/>
          </a:bodyPr>
          <a:lstStyle/>
          <a:p>
            <a:pPr marL="0" marR="0" lvl="0" indent="0" algn="l" rtl="0">
              <a:lnSpc>
                <a:spcPct val="125027"/>
              </a:lnSpc>
              <a:spcBef>
                <a:spcPts val="0"/>
              </a:spcBef>
              <a:spcAft>
                <a:spcPts val="0"/>
              </a:spcAft>
              <a:buNone/>
            </a:pPr>
            <a:r>
              <a:rPr lang="en-US" sz="2733" b="0" i="0" u="none" strike="noStrike" cap="none">
                <a:solidFill>
                  <a:srgbClr val="EBECEF"/>
                </a:solidFill>
                <a:latin typeface="Fraunces"/>
                <a:ea typeface="Fraunces"/>
                <a:cs typeface="Fraunces"/>
                <a:sym typeface="Fraunces"/>
              </a:rPr>
              <a:t>Efficiency Gains</a:t>
            </a:r>
            <a:endParaRPr/>
          </a:p>
        </p:txBody>
      </p:sp>
      <p:sp>
        <p:nvSpPr>
          <p:cNvPr id="232" name="Google Shape;232;p8"/>
          <p:cNvSpPr txBox="1"/>
          <p:nvPr/>
        </p:nvSpPr>
        <p:spPr>
          <a:xfrm>
            <a:off x="2926169" y="7272385"/>
            <a:ext cx="5700296" cy="892314"/>
          </a:xfrm>
          <a:prstGeom prst="rect">
            <a:avLst/>
          </a:prstGeom>
          <a:noFill/>
          <a:ln>
            <a:noFill/>
          </a:ln>
        </p:spPr>
        <p:txBody>
          <a:bodyPr spcFirstLastPara="1" wrap="square" lIns="0" tIns="0" rIns="0" bIns="0" anchor="t" anchorCtr="0">
            <a:spAutoFit/>
          </a:bodyPr>
          <a:lstStyle/>
          <a:p>
            <a:pPr marL="0" marR="0" lvl="0" indent="0" algn="l" rtl="0">
              <a:lnSpc>
                <a:spcPct val="159945"/>
              </a:lnSpc>
              <a:spcBef>
                <a:spcPts val="0"/>
              </a:spcBef>
              <a:spcAft>
                <a:spcPts val="0"/>
              </a:spcAft>
              <a:buNone/>
            </a:pPr>
            <a:r>
              <a:rPr lang="en-US" sz="2187" b="0" i="0" u="none" strike="noStrike" cap="none">
                <a:solidFill>
                  <a:srgbClr val="EBECEF"/>
                </a:solidFill>
                <a:latin typeface="Arimo"/>
                <a:ea typeface="Arimo"/>
                <a:cs typeface="Arimo"/>
                <a:sym typeface="Arimo"/>
              </a:rPr>
              <a:t>Significant reduction in segregation time and increased accuracy.</a:t>
            </a:r>
            <a:endParaRPr/>
          </a:p>
        </p:txBody>
      </p:sp>
      <p:grpSp>
        <p:nvGrpSpPr>
          <p:cNvPr id="233" name="Google Shape;233;p8"/>
          <p:cNvGrpSpPr/>
          <p:nvPr/>
        </p:nvGrpSpPr>
        <p:grpSpPr>
          <a:xfrm>
            <a:off x="9278094" y="6262985"/>
            <a:ext cx="6467190" cy="2517267"/>
            <a:chOff x="0" y="0"/>
            <a:chExt cx="8622919" cy="3356356"/>
          </a:xfrm>
        </p:grpSpPr>
        <p:sp>
          <p:nvSpPr>
            <p:cNvPr id="234" name="Google Shape;234;p8"/>
            <p:cNvSpPr/>
            <p:nvPr/>
          </p:nvSpPr>
          <p:spPr>
            <a:xfrm>
              <a:off x="6350" y="6350"/>
              <a:ext cx="8610219" cy="3343656"/>
            </a:xfrm>
            <a:custGeom>
              <a:avLst/>
              <a:gdLst/>
              <a:ahLst/>
              <a:cxnLst/>
              <a:rect l="l" t="t" r="r" b="b"/>
              <a:pathLst>
                <a:path w="8610219" h="3343656" extrusionOk="0">
                  <a:moveTo>
                    <a:pt x="0" y="166624"/>
                  </a:moveTo>
                  <a:cubicBezTo>
                    <a:pt x="0" y="74549"/>
                    <a:pt x="74803" y="0"/>
                    <a:pt x="167005" y="0"/>
                  </a:cubicBezTo>
                  <a:lnTo>
                    <a:pt x="8443214" y="0"/>
                  </a:lnTo>
                  <a:cubicBezTo>
                    <a:pt x="8535416" y="0"/>
                    <a:pt x="8610219" y="74549"/>
                    <a:pt x="8610219" y="166624"/>
                  </a:cubicBezTo>
                  <a:lnTo>
                    <a:pt x="8610219" y="3177032"/>
                  </a:lnTo>
                  <a:cubicBezTo>
                    <a:pt x="8610219" y="3269107"/>
                    <a:pt x="8535416" y="3343656"/>
                    <a:pt x="8443214" y="3343656"/>
                  </a:cubicBezTo>
                  <a:lnTo>
                    <a:pt x="167005" y="3343656"/>
                  </a:lnTo>
                  <a:cubicBezTo>
                    <a:pt x="74803" y="3343656"/>
                    <a:pt x="0" y="3269107"/>
                    <a:pt x="0" y="3177032"/>
                  </a:cubicBezTo>
                  <a:close/>
                </a:path>
              </a:pathLst>
            </a:custGeom>
            <a:solidFill>
              <a:srgbClr val="2831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8"/>
            <p:cNvSpPr/>
            <p:nvPr/>
          </p:nvSpPr>
          <p:spPr>
            <a:xfrm>
              <a:off x="0" y="0"/>
              <a:ext cx="8622919" cy="3356356"/>
            </a:xfrm>
            <a:custGeom>
              <a:avLst/>
              <a:gdLst/>
              <a:ahLst/>
              <a:cxnLst/>
              <a:rect l="l" t="t" r="r" b="b"/>
              <a:pathLst>
                <a:path w="8622919" h="3356356" extrusionOk="0">
                  <a:moveTo>
                    <a:pt x="0" y="172974"/>
                  </a:moveTo>
                  <a:cubicBezTo>
                    <a:pt x="0" y="77470"/>
                    <a:pt x="77597" y="0"/>
                    <a:pt x="173355" y="0"/>
                  </a:cubicBezTo>
                  <a:lnTo>
                    <a:pt x="8449564" y="0"/>
                  </a:lnTo>
                  <a:lnTo>
                    <a:pt x="8449564" y="6350"/>
                  </a:lnTo>
                  <a:lnTo>
                    <a:pt x="8449564" y="0"/>
                  </a:lnTo>
                  <a:cubicBezTo>
                    <a:pt x="8545322" y="0"/>
                    <a:pt x="8622919" y="77470"/>
                    <a:pt x="8622919" y="172974"/>
                  </a:cubicBezTo>
                  <a:lnTo>
                    <a:pt x="8616569" y="172974"/>
                  </a:lnTo>
                  <a:lnTo>
                    <a:pt x="8622919" y="172974"/>
                  </a:lnTo>
                  <a:lnTo>
                    <a:pt x="8622919" y="3183382"/>
                  </a:lnTo>
                  <a:lnTo>
                    <a:pt x="8616569" y="3183382"/>
                  </a:lnTo>
                  <a:lnTo>
                    <a:pt x="8622919" y="3183382"/>
                  </a:lnTo>
                  <a:cubicBezTo>
                    <a:pt x="8622919" y="3278886"/>
                    <a:pt x="8545322" y="3356356"/>
                    <a:pt x="8449564" y="3356356"/>
                  </a:cubicBezTo>
                  <a:lnTo>
                    <a:pt x="8449564" y="3350006"/>
                  </a:lnTo>
                  <a:lnTo>
                    <a:pt x="8449564" y="3356356"/>
                  </a:lnTo>
                  <a:lnTo>
                    <a:pt x="173355" y="3356356"/>
                  </a:lnTo>
                  <a:lnTo>
                    <a:pt x="173355" y="3350006"/>
                  </a:lnTo>
                  <a:lnTo>
                    <a:pt x="173355" y="3356356"/>
                  </a:lnTo>
                  <a:cubicBezTo>
                    <a:pt x="77597" y="3356356"/>
                    <a:pt x="0" y="3278886"/>
                    <a:pt x="0" y="3183382"/>
                  </a:cubicBezTo>
                  <a:lnTo>
                    <a:pt x="0" y="172974"/>
                  </a:lnTo>
                  <a:lnTo>
                    <a:pt x="6350" y="172974"/>
                  </a:lnTo>
                  <a:lnTo>
                    <a:pt x="0" y="172974"/>
                  </a:lnTo>
                  <a:moveTo>
                    <a:pt x="12700" y="172974"/>
                  </a:moveTo>
                  <a:lnTo>
                    <a:pt x="12700" y="3183382"/>
                  </a:lnTo>
                  <a:lnTo>
                    <a:pt x="6350" y="3183382"/>
                  </a:lnTo>
                  <a:lnTo>
                    <a:pt x="12700" y="3183382"/>
                  </a:lnTo>
                  <a:cubicBezTo>
                    <a:pt x="12700" y="3271901"/>
                    <a:pt x="84582" y="3343656"/>
                    <a:pt x="173355" y="3343656"/>
                  </a:cubicBezTo>
                  <a:lnTo>
                    <a:pt x="8449564" y="3343656"/>
                  </a:lnTo>
                  <a:cubicBezTo>
                    <a:pt x="8538337" y="3343656"/>
                    <a:pt x="8610219" y="3271901"/>
                    <a:pt x="8610219" y="3183382"/>
                  </a:cubicBezTo>
                  <a:lnTo>
                    <a:pt x="8610219" y="172974"/>
                  </a:lnTo>
                  <a:cubicBezTo>
                    <a:pt x="8610219" y="84455"/>
                    <a:pt x="8538337" y="12700"/>
                    <a:pt x="8449564" y="12700"/>
                  </a:cubicBezTo>
                  <a:lnTo>
                    <a:pt x="173355" y="12700"/>
                  </a:lnTo>
                  <a:lnTo>
                    <a:pt x="173355" y="6350"/>
                  </a:lnTo>
                  <a:lnTo>
                    <a:pt x="173355" y="12700"/>
                  </a:lnTo>
                  <a:cubicBezTo>
                    <a:pt x="84582" y="12700"/>
                    <a:pt x="12700" y="84455"/>
                    <a:pt x="12700" y="172974"/>
                  </a:cubicBezTo>
                  <a:close/>
                </a:path>
              </a:pathLst>
            </a:custGeom>
            <a:solidFill>
              <a:srgbClr val="414A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6" name="Google Shape;236;p8"/>
          <p:cNvSpPr txBox="1"/>
          <p:nvPr/>
        </p:nvSpPr>
        <p:spPr>
          <a:xfrm>
            <a:off x="9661535" y="6581656"/>
            <a:ext cx="4603432" cy="361593"/>
          </a:xfrm>
          <a:prstGeom prst="rect">
            <a:avLst/>
          </a:prstGeom>
          <a:noFill/>
          <a:ln>
            <a:noFill/>
          </a:ln>
        </p:spPr>
        <p:txBody>
          <a:bodyPr spcFirstLastPara="1" wrap="square" lIns="0" tIns="0" rIns="0" bIns="0" anchor="t" anchorCtr="0">
            <a:spAutoFit/>
          </a:bodyPr>
          <a:lstStyle/>
          <a:p>
            <a:pPr marL="0" marR="0" lvl="0" indent="0" algn="l" rtl="0">
              <a:lnSpc>
                <a:spcPct val="125027"/>
              </a:lnSpc>
              <a:spcBef>
                <a:spcPts val="0"/>
              </a:spcBef>
              <a:spcAft>
                <a:spcPts val="0"/>
              </a:spcAft>
              <a:buNone/>
            </a:pPr>
            <a:r>
              <a:rPr lang="en-US" sz="2733" b="0" i="0" u="none" strike="noStrike" cap="none">
                <a:solidFill>
                  <a:srgbClr val="EBECEF"/>
                </a:solidFill>
                <a:latin typeface="Fraunces"/>
                <a:ea typeface="Fraunces"/>
                <a:cs typeface="Fraunces"/>
                <a:sym typeface="Fraunces"/>
              </a:rPr>
              <a:t>Environmental Conservation</a:t>
            </a:r>
            <a:endParaRPr/>
          </a:p>
        </p:txBody>
      </p:sp>
      <p:sp>
        <p:nvSpPr>
          <p:cNvPr id="237" name="Google Shape;237;p8"/>
          <p:cNvSpPr txBox="1"/>
          <p:nvPr/>
        </p:nvSpPr>
        <p:spPr>
          <a:xfrm>
            <a:off x="9661534" y="7562374"/>
            <a:ext cx="5700296" cy="1336566"/>
          </a:xfrm>
          <a:prstGeom prst="rect">
            <a:avLst/>
          </a:prstGeom>
          <a:noFill/>
          <a:ln>
            <a:noFill/>
          </a:ln>
        </p:spPr>
        <p:txBody>
          <a:bodyPr spcFirstLastPara="1" wrap="square" lIns="0" tIns="0" rIns="0" bIns="0" anchor="t" anchorCtr="0">
            <a:spAutoFit/>
          </a:bodyPr>
          <a:lstStyle/>
          <a:p>
            <a:pPr marL="0" marR="0" lvl="0" indent="0" algn="l" rtl="0">
              <a:lnSpc>
                <a:spcPct val="159945"/>
              </a:lnSpc>
              <a:spcBef>
                <a:spcPts val="0"/>
              </a:spcBef>
              <a:spcAft>
                <a:spcPts val="0"/>
              </a:spcAft>
              <a:buNone/>
            </a:pPr>
            <a:r>
              <a:rPr lang="en-US" sz="2187" b="0" i="0" u="none" strike="noStrike" cap="none">
                <a:solidFill>
                  <a:srgbClr val="EBECEF"/>
                </a:solidFill>
                <a:latin typeface="Arimo"/>
                <a:ea typeface="Arimo"/>
                <a:cs typeface="Arimo"/>
                <a:sym typeface="Arimo"/>
              </a:rPr>
              <a:t>Noticeable decline in environmental contamination and ecosystem preservation.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9"/>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A8AFCC"/>
          </a:solidFill>
          <a:ln>
            <a:noFill/>
          </a:ln>
        </p:spPr>
      </p:sp>
      <p:sp>
        <p:nvSpPr>
          <p:cNvPr id="243" name="Google Shape;243;p9"/>
          <p:cNvSpPr/>
          <p:nvPr/>
        </p:nvSpPr>
        <p:spPr>
          <a:xfrm>
            <a:off x="0" y="0"/>
            <a:ext cx="18288000" cy="10291572"/>
          </a:xfrm>
          <a:custGeom>
            <a:avLst/>
            <a:gdLst/>
            <a:ahLst/>
            <a:cxnLst/>
            <a:rect l="l" t="t" r="r" b="b"/>
            <a:pathLst>
              <a:path w="24384000" h="13722096" extrusionOk="0">
                <a:moveTo>
                  <a:pt x="0" y="0"/>
                </a:moveTo>
                <a:lnTo>
                  <a:pt x="24384000" y="0"/>
                </a:lnTo>
                <a:lnTo>
                  <a:pt x="24384000" y="13722096"/>
                </a:lnTo>
                <a:lnTo>
                  <a:pt x="0" y="13722096"/>
                </a:lnTo>
                <a:close/>
              </a:path>
            </a:pathLst>
          </a:custGeom>
          <a:solidFill>
            <a:srgbClr val="080E26"/>
          </a:solidFill>
          <a:ln>
            <a:noFill/>
          </a:ln>
        </p:spPr>
      </p:sp>
      <p:sp>
        <p:nvSpPr>
          <p:cNvPr id="244" name="Google Shape;244;p9" descr="preencoded.png"/>
          <p:cNvSpPr/>
          <p:nvPr/>
        </p:nvSpPr>
        <p:spPr>
          <a:xfrm>
            <a:off x="0" y="0"/>
            <a:ext cx="18288000" cy="2917924"/>
          </a:xfrm>
          <a:custGeom>
            <a:avLst/>
            <a:gdLst/>
            <a:ahLst/>
            <a:cxnLst/>
            <a:rect l="l" t="t" r="r" b="b"/>
            <a:pathLst>
              <a:path w="18288000" h="2917924" extrusionOk="0">
                <a:moveTo>
                  <a:pt x="0" y="0"/>
                </a:moveTo>
                <a:lnTo>
                  <a:pt x="18288000" y="0"/>
                </a:lnTo>
                <a:lnTo>
                  <a:pt x="18288000" y="2917924"/>
                </a:lnTo>
                <a:lnTo>
                  <a:pt x="0" y="2917924"/>
                </a:lnTo>
                <a:lnTo>
                  <a:pt x="0" y="0"/>
                </a:lnTo>
                <a:close/>
              </a:path>
            </a:pathLst>
          </a:custGeom>
          <a:blipFill rotWithShape="1">
            <a:blip r:embed="rId3">
              <a:alphaModFix/>
            </a:blip>
            <a:stretch>
              <a:fillRect l="-55" r="-54"/>
            </a:stretch>
          </a:blipFill>
          <a:ln>
            <a:noFill/>
          </a:ln>
        </p:spPr>
      </p:sp>
      <p:sp>
        <p:nvSpPr>
          <p:cNvPr id="245" name="Google Shape;245;p9"/>
          <p:cNvSpPr txBox="1"/>
          <p:nvPr/>
        </p:nvSpPr>
        <p:spPr>
          <a:xfrm>
            <a:off x="3691295" y="3431039"/>
            <a:ext cx="5652969" cy="666541"/>
          </a:xfrm>
          <a:prstGeom prst="rect">
            <a:avLst/>
          </a:prstGeom>
          <a:noFill/>
          <a:ln>
            <a:noFill/>
          </a:ln>
        </p:spPr>
        <p:txBody>
          <a:bodyPr spcFirstLastPara="1" wrap="square" lIns="0" tIns="0" rIns="0" bIns="0" anchor="t" anchorCtr="0">
            <a:spAutoFit/>
          </a:bodyPr>
          <a:lstStyle/>
          <a:p>
            <a:pPr marL="0" marR="0" lvl="0" indent="0" algn="l" rtl="0">
              <a:lnSpc>
                <a:spcPct val="124983"/>
              </a:lnSpc>
              <a:spcBef>
                <a:spcPts val="0"/>
              </a:spcBef>
              <a:spcAft>
                <a:spcPts val="0"/>
              </a:spcAft>
              <a:buNone/>
            </a:pPr>
            <a:r>
              <a:rPr lang="en-US" sz="4595" b="0" i="0" u="none" strike="noStrike" cap="none">
                <a:solidFill>
                  <a:srgbClr val="FFFFFF"/>
                </a:solidFill>
                <a:latin typeface="Fraunces"/>
                <a:ea typeface="Fraunces"/>
                <a:cs typeface="Fraunces"/>
                <a:sym typeface="Fraunces"/>
              </a:rPr>
              <a:t>Conclusion</a:t>
            </a:r>
            <a:endParaRPr/>
          </a:p>
        </p:txBody>
      </p:sp>
      <p:sp>
        <p:nvSpPr>
          <p:cNvPr id="246" name="Google Shape;246;p9" descr="preencoded.png"/>
          <p:cNvSpPr/>
          <p:nvPr/>
        </p:nvSpPr>
        <p:spPr>
          <a:xfrm>
            <a:off x="3599855" y="4415671"/>
            <a:ext cx="5544145" cy="933747"/>
          </a:xfrm>
          <a:custGeom>
            <a:avLst/>
            <a:gdLst/>
            <a:ahLst/>
            <a:cxnLst/>
            <a:rect l="l" t="t" r="r" b="b"/>
            <a:pathLst>
              <a:path w="5544145" h="933747" extrusionOk="0">
                <a:moveTo>
                  <a:pt x="0" y="0"/>
                </a:moveTo>
                <a:lnTo>
                  <a:pt x="5544145" y="0"/>
                </a:lnTo>
                <a:lnTo>
                  <a:pt x="5544145" y="933747"/>
                </a:lnTo>
                <a:lnTo>
                  <a:pt x="0" y="933747"/>
                </a:lnTo>
                <a:lnTo>
                  <a:pt x="0" y="0"/>
                </a:lnTo>
                <a:close/>
              </a:path>
            </a:pathLst>
          </a:custGeom>
          <a:blipFill rotWithShape="1">
            <a:blip r:embed="rId4">
              <a:alphaModFix/>
            </a:blip>
            <a:stretch>
              <a:fillRect l="-9" r="-8"/>
            </a:stretch>
          </a:blipFill>
          <a:ln>
            <a:noFill/>
          </a:ln>
        </p:spPr>
      </p:sp>
      <p:sp>
        <p:nvSpPr>
          <p:cNvPr id="247" name="Google Shape;247;p9"/>
          <p:cNvSpPr txBox="1"/>
          <p:nvPr/>
        </p:nvSpPr>
        <p:spPr>
          <a:xfrm>
            <a:off x="3924658" y="5741442"/>
            <a:ext cx="3488115" cy="718492"/>
          </a:xfrm>
          <a:prstGeom prst="rect">
            <a:avLst/>
          </a:prstGeom>
          <a:noFill/>
          <a:ln>
            <a:noFill/>
          </a:ln>
        </p:spPr>
        <p:txBody>
          <a:bodyPr spcFirstLastPara="1" wrap="square" lIns="0" tIns="0" rIns="0" bIns="0" anchor="t" anchorCtr="0">
            <a:spAutoFit/>
          </a:bodyPr>
          <a:lstStyle/>
          <a:p>
            <a:pPr marL="0" marR="0" lvl="0" indent="0" algn="l" rtl="0">
              <a:lnSpc>
                <a:spcPct val="125032"/>
              </a:lnSpc>
              <a:spcBef>
                <a:spcPts val="0"/>
              </a:spcBef>
              <a:spcAft>
                <a:spcPts val="0"/>
              </a:spcAft>
              <a:buNone/>
            </a:pPr>
            <a:r>
              <a:rPr lang="en-US" sz="2297" b="0" i="0" u="none" strike="noStrike" cap="none">
                <a:solidFill>
                  <a:srgbClr val="EBECEF"/>
                </a:solidFill>
                <a:latin typeface="Fraunces"/>
                <a:ea typeface="Fraunces"/>
                <a:cs typeface="Fraunces"/>
                <a:sym typeface="Fraunces"/>
              </a:rPr>
              <a:t>Revolutionary Technology</a:t>
            </a:r>
            <a:endParaRPr/>
          </a:p>
        </p:txBody>
      </p:sp>
      <p:sp>
        <p:nvSpPr>
          <p:cNvPr id="248" name="Google Shape;248;p9"/>
          <p:cNvSpPr txBox="1"/>
          <p:nvPr/>
        </p:nvSpPr>
        <p:spPr>
          <a:xfrm>
            <a:off x="3924658" y="6751915"/>
            <a:ext cx="4894540" cy="2618720"/>
          </a:xfrm>
          <a:prstGeom prst="rect">
            <a:avLst/>
          </a:prstGeom>
          <a:noFill/>
          <a:ln>
            <a:noFill/>
          </a:ln>
        </p:spPr>
        <p:txBody>
          <a:bodyPr spcFirstLastPara="1" wrap="square" lIns="0" tIns="0" rIns="0" bIns="0" anchor="t" anchorCtr="0">
            <a:spAutoFit/>
          </a:bodyPr>
          <a:lstStyle/>
          <a:p>
            <a:pPr marL="0" marR="0" lvl="0" indent="0" algn="l" rtl="0">
              <a:lnSpc>
                <a:spcPct val="160097"/>
              </a:lnSpc>
              <a:spcBef>
                <a:spcPts val="0"/>
              </a:spcBef>
              <a:spcAft>
                <a:spcPts val="0"/>
              </a:spcAft>
              <a:buNone/>
            </a:pPr>
            <a:r>
              <a:rPr lang="en-US" sz="1837" b="0" i="0" u="none" strike="noStrike" cap="none">
                <a:solidFill>
                  <a:srgbClr val="EBECEF"/>
                </a:solidFill>
                <a:latin typeface="Arimo"/>
                <a:ea typeface="Arimo"/>
                <a:cs typeface="Arimo"/>
                <a:sym typeface="Arimo"/>
              </a:rPr>
              <a:t>The AI-based waste segregation system presents a groundbreaking approach to waste management. By leveraging the power of artificial intelligence, we can revolutionize how waste is sorted and processed, leading to more efficient and sustainable waste management practices.</a:t>
            </a:r>
            <a:endParaRPr/>
          </a:p>
        </p:txBody>
      </p:sp>
      <p:sp>
        <p:nvSpPr>
          <p:cNvPr id="249" name="Google Shape;249;p9" descr="preencoded.png"/>
          <p:cNvSpPr/>
          <p:nvPr/>
        </p:nvSpPr>
        <p:spPr>
          <a:xfrm>
            <a:off x="9144000" y="4415671"/>
            <a:ext cx="5544145" cy="933747"/>
          </a:xfrm>
          <a:custGeom>
            <a:avLst/>
            <a:gdLst/>
            <a:ahLst/>
            <a:cxnLst/>
            <a:rect l="l" t="t" r="r" b="b"/>
            <a:pathLst>
              <a:path w="5544145" h="933747" extrusionOk="0">
                <a:moveTo>
                  <a:pt x="0" y="0"/>
                </a:moveTo>
                <a:lnTo>
                  <a:pt x="5544145" y="0"/>
                </a:lnTo>
                <a:lnTo>
                  <a:pt x="5544145" y="933747"/>
                </a:lnTo>
                <a:lnTo>
                  <a:pt x="0" y="933747"/>
                </a:lnTo>
                <a:lnTo>
                  <a:pt x="0" y="0"/>
                </a:lnTo>
                <a:close/>
              </a:path>
            </a:pathLst>
          </a:custGeom>
          <a:blipFill rotWithShape="1">
            <a:blip r:embed="rId5">
              <a:alphaModFix/>
            </a:blip>
            <a:stretch>
              <a:fillRect l="-9" r="-8"/>
            </a:stretch>
          </a:blipFill>
          <a:ln>
            <a:noFill/>
          </a:ln>
        </p:spPr>
      </p:sp>
      <p:sp>
        <p:nvSpPr>
          <p:cNvPr id="250" name="Google Shape;250;p9"/>
          <p:cNvSpPr txBox="1"/>
          <p:nvPr/>
        </p:nvSpPr>
        <p:spPr>
          <a:xfrm>
            <a:off x="9468802" y="5741442"/>
            <a:ext cx="3767762" cy="718492"/>
          </a:xfrm>
          <a:prstGeom prst="rect">
            <a:avLst/>
          </a:prstGeom>
          <a:noFill/>
          <a:ln>
            <a:noFill/>
          </a:ln>
        </p:spPr>
        <p:txBody>
          <a:bodyPr spcFirstLastPara="1" wrap="square" lIns="0" tIns="0" rIns="0" bIns="0" anchor="t" anchorCtr="0">
            <a:spAutoFit/>
          </a:bodyPr>
          <a:lstStyle/>
          <a:p>
            <a:pPr marL="0" marR="0" lvl="0" indent="0" algn="l" rtl="0">
              <a:lnSpc>
                <a:spcPct val="125032"/>
              </a:lnSpc>
              <a:spcBef>
                <a:spcPts val="0"/>
              </a:spcBef>
              <a:spcAft>
                <a:spcPts val="0"/>
              </a:spcAft>
              <a:buNone/>
            </a:pPr>
            <a:r>
              <a:rPr lang="en-US" sz="2297" b="0" i="0" u="none" strike="noStrike" cap="none">
                <a:solidFill>
                  <a:srgbClr val="EBECEF"/>
                </a:solidFill>
                <a:latin typeface="Fraunces"/>
                <a:ea typeface="Fraunces"/>
                <a:cs typeface="Fraunces"/>
                <a:sym typeface="Fraunces"/>
              </a:rPr>
              <a:t>Environmental Preservation</a:t>
            </a:r>
            <a:endParaRPr/>
          </a:p>
        </p:txBody>
      </p:sp>
      <p:sp>
        <p:nvSpPr>
          <p:cNvPr id="251" name="Google Shape;251;p9"/>
          <p:cNvSpPr txBox="1"/>
          <p:nvPr/>
        </p:nvSpPr>
        <p:spPr>
          <a:xfrm>
            <a:off x="9468802" y="6751915"/>
            <a:ext cx="4894540" cy="2992279"/>
          </a:xfrm>
          <a:prstGeom prst="rect">
            <a:avLst/>
          </a:prstGeom>
          <a:noFill/>
          <a:ln>
            <a:noFill/>
          </a:ln>
        </p:spPr>
        <p:txBody>
          <a:bodyPr spcFirstLastPara="1" wrap="square" lIns="0" tIns="0" rIns="0" bIns="0" anchor="t" anchorCtr="0">
            <a:spAutoFit/>
          </a:bodyPr>
          <a:lstStyle/>
          <a:p>
            <a:pPr marL="0" marR="0" lvl="0" indent="0" algn="l" rtl="0">
              <a:lnSpc>
                <a:spcPct val="160097"/>
              </a:lnSpc>
              <a:spcBef>
                <a:spcPts val="0"/>
              </a:spcBef>
              <a:spcAft>
                <a:spcPts val="0"/>
              </a:spcAft>
              <a:buNone/>
            </a:pPr>
            <a:r>
              <a:rPr lang="en-US" sz="1837" b="0" i="0" u="none" strike="noStrike" cap="none">
                <a:solidFill>
                  <a:srgbClr val="EBECEF"/>
                </a:solidFill>
                <a:latin typeface="Arimo"/>
                <a:ea typeface="Arimo"/>
                <a:cs typeface="Arimo"/>
                <a:sym typeface="Arimo"/>
              </a:rPr>
              <a:t>Adoption of this system leads to a greener and cleaner future. By accurately identifying and sorting different types of waste, we can minimize the impact on the environment, reduce contamination, and promote recycling and resource recovery. Together, we can work towards a more sustainable and eco-friendly world.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10"/>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A8AFCC"/>
          </a:solidFill>
          <a:ln>
            <a:noFill/>
          </a:ln>
        </p:spPr>
      </p:sp>
      <p:sp>
        <p:nvSpPr>
          <p:cNvPr id="257" name="Google Shape;257;p10"/>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080E26"/>
          </a:solidFill>
          <a:ln>
            <a:noFill/>
          </a:ln>
        </p:spPr>
      </p:sp>
      <p:sp>
        <p:nvSpPr>
          <p:cNvPr id="258" name="Google Shape;258;p10" descr="preencoded.png"/>
          <p:cNvSpPr/>
          <p:nvPr/>
        </p:nvSpPr>
        <p:spPr>
          <a:xfrm>
            <a:off x="13716000" y="0"/>
            <a:ext cx="4572000" cy="10287000"/>
          </a:xfrm>
          <a:custGeom>
            <a:avLst/>
            <a:gdLst/>
            <a:ahLst/>
            <a:cxnLst/>
            <a:rect l="l" t="t" r="r" b="b"/>
            <a:pathLst>
              <a:path w="4572000" h="10287000" extrusionOk="0">
                <a:moveTo>
                  <a:pt x="0" y="0"/>
                </a:moveTo>
                <a:lnTo>
                  <a:pt x="4572000" y="0"/>
                </a:lnTo>
                <a:lnTo>
                  <a:pt x="4572000" y="10287000"/>
                </a:lnTo>
                <a:lnTo>
                  <a:pt x="0" y="10287000"/>
                </a:lnTo>
                <a:lnTo>
                  <a:pt x="0" y="0"/>
                </a:lnTo>
                <a:close/>
              </a:path>
            </a:pathLst>
          </a:custGeom>
          <a:blipFill rotWithShape="1">
            <a:blip r:embed="rId3">
              <a:alphaModFix/>
            </a:blip>
            <a:stretch>
              <a:fillRect/>
            </a:stretch>
          </a:blipFill>
          <a:ln>
            <a:noFill/>
          </a:ln>
        </p:spPr>
      </p:sp>
      <p:sp>
        <p:nvSpPr>
          <p:cNvPr id="259" name="Google Shape;259;p10"/>
          <p:cNvSpPr txBox="1"/>
          <p:nvPr/>
        </p:nvSpPr>
        <p:spPr>
          <a:xfrm>
            <a:off x="1093946" y="974259"/>
            <a:ext cx="6500842" cy="762983"/>
          </a:xfrm>
          <a:prstGeom prst="rect">
            <a:avLst/>
          </a:prstGeom>
          <a:noFill/>
          <a:ln>
            <a:noFill/>
          </a:ln>
        </p:spPr>
        <p:txBody>
          <a:bodyPr spcFirstLastPara="1" wrap="square" lIns="0" tIns="0" rIns="0" bIns="0" anchor="t" anchorCtr="0">
            <a:spAutoFit/>
          </a:bodyPr>
          <a:lstStyle/>
          <a:p>
            <a:pPr marL="0" marR="0" lvl="0" indent="0" algn="l" rtl="0">
              <a:lnSpc>
                <a:spcPct val="125009"/>
              </a:lnSpc>
              <a:spcBef>
                <a:spcPts val="0"/>
              </a:spcBef>
              <a:spcAft>
                <a:spcPts val="0"/>
              </a:spcAft>
              <a:buNone/>
            </a:pPr>
            <a:r>
              <a:rPr lang="en-US" sz="5262" b="0" i="0" u="none" strike="noStrike" cap="none">
                <a:solidFill>
                  <a:srgbClr val="FFFFFF"/>
                </a:solidFill>
                <a:latin typeface="Fraunces"/>
                <a:ea typeface="Fraunces"/>
                <a:cs typeface="Fraunces"/>
                <a:sym typeface="Fraunces"/>
              </a:rPr>
              <a:t>Call to Action</a:t>
            </a:r>
            <a:endParaRPr/>
          </a:p>
        </p:txBody>
      </p:sp>
      <p:grpSp>
        <p:nvGrpSpPr>
          <p:cNvPr id="260" name="Google Shape;260;p10"/>
          <p:cNvGrpSpPr/>
          <p:nvPr/>
        </p:nvGrpSpPr>
        <p:grpSpPr>
          <a:xfrm>
            <a:off x="997744" y="2387948"/>
            <a:ext cx="610933" cy="610933"/>
            <a:chOff x="0" y="0"/>
            <a:chExt cx="814578" cy="814578"/>
          </a:xfrm>
        </p:grpSpPr>
        <p:sp>
          <p:nvSpPr>
            <p:cNvPr id="261" name="Google Shape;261;p10"/>
            <p:cNvSpPr/>
            <p:nvPr/>
          </p:nvSpPr>
          <p:spPr>
            <a:xfrm>
              <a:off x="6350" y="6350"/>
              <a:ext cx="801878" cy="801878"/>
            </a:xfrm>
            <a:custGeom>
              <a:avLst/>
              <a:gdLst/>
              <a:ahLst/>
              <a:cxnLst/>
              <a:rect l="l" t="t" r="r" b="b"/>
              <a:pathLst>
                <a:path w="801878" h="801878" extrusionOk="0">
                  <a:moveTo>
                    <a:pt x="0" y="160401"/>
                  </a:moveTo>
                  <a:cubicBezTo>
                    <a:pt x="0" y="71755"/>
                    <a:pt x="71755" y="0"/>
                    <a:pt x="160401" y="0"/>
                  </a:cubicBezTo>
                  <a:lnTo>
                    <a:pt x="641477" y="0"/>
                  </a:lnTo>
                  <a:cubicBezTo>
                    <a:pt x="730123" y="0"/>
                    <a:pt x="801878" y="71755"/>
                    <a:pt x="801878" y="160401"/>
                  </a:cubicBezTo>
                  <a:lnTo>
                    <a:pt x="801878" y="641477"/>
                  </a:lnTo>
                  <a:cubicBezTo>
                    <a:pt x="801878" y="730123"/>
                    <a:pt x="730123" y="801878"/>
                    <a:pt x="641477" y="801878"/>
                  </a:cubicBezTo>
                  <a:lnTo>
                    <a:pt x="160401" y="801878"/>
                  </a:lnTo>
                  <a:cubicBezTo>
                    <a:pt x="71755" y="801878"/>
                    <a:pt x="0" y="730123"/>
                    <a:pt x="0" y="641477"/>
                  </a:cubicBezTo>
                  <a:close/>
                </a:path>
              </a:pathLst>
            </a:custGeom>
            <a:solidFill>
              <a:srgbClr val="2831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0"/>
            <p:cNvSpPr/>
            <p:nvPr/>
          </p:nvSpPr>
          <p:spPr>
            <a:xfrm>
              <a:off x="0" y="0"/>
              <a:ext cx="814578" cy="814578"/>
            </a:xfrm>
            <a:custGeom>
              <a:avLst/>
              <a:gdLst/>
              <a:ahLst/>
              <a:cxnLst/>
              <a:rect l="l" t="t" r="r" b="b"/>
              <a:pathLst>
                <a:path w="814578" h="814578" extrusionOk="0">
                  <a:moveTo>
                    <a:pt x="0" y="166751"/>
                  </a:moveTo>
                  <a:cubicBezTo>
                    <a:pt x="0" y="74676"/>
                    <a:pt x="74676" y="0"/>
                    <a:pt x="166751" y="0"/>
                  </a:cubicBezTo>
                  <a:lnTo>
                    <a:pt x="647827" y="0"/>
                  </a:lnTo>
                  <a:lnTo>
                    <a:pt x="647827" y="6350"/>
                  </a:lnTo>
                  <a:lnTo>
                    <a:pt x="647827" y="0"/>
                  </a:lnTo>
                  <a:lnTo>
                    <a:pt x="647827" y="6350"/>
                  </a:lnTo>
                  <a:lnTo>
                    <a:pt x="647827" y="0"/>
                  </a:lnTo>
                  <a:cubicBezTo>
                    <a:pt x="739902" y="0"/>
                    <a:pt x="814578" y="74676"/>
                    <a:pt x="814578" y="166751"/>
                  </a:cubicBezTo>
                  <a:lnTo>
                    <a:pt x="814578" y="647827"/>
                  </a:lnTo>
                  <a:lnTo>
                    <a:pt x="808228" y="647827"/>
                  </a:lnTo>
                  <a:lnTo>
                    <a:pt x="814578" y="647827"/>
                  </a:lnTo>
                  <a:cubicBezTo>
                    <a:pt x="814578" y="739902"/>
                    <a:pt x="739902" y="814578"/>
                    <a:pt x="647827" y="814578"/>
                  </a:cubicBezTo>
                  <a:lnTo>
                    <a:pt x="647827" y="808228"/>
                  </a:lnTo>
                  <a:lnTo>
                    <a:pt x="647827" y="814578"/>
                  </a:lnTo>
                  <a:lnTo>
                    <a:pt x="166751" y="814578"/>
                  </a:lnTo>
                  <a:lnTo>
                    <a:pt x="166751" y="808228"/>
                  </a:lnTo>
                  <a:lnTo>
                    <a:pt x="166751" y="814578"/>
                  </a:lnTo>
                  <a:cubicBezTo>
                    <a:pt x="74676" y="814578"/>
                    <a:pt x="0" y="739902"/>
                    <a:pt x="0" y="647827"/>
                  </a:cubicBezTo>
                  <a:lnTo>
                    <a:pt x="0" y="166751"/>
                  </a:lnTo>
                  <a:lnTo>
                    <a:pt x="6350" y="166751"/>
                  </a:lnTo>
                  <a:lnTo>
                    <a:pt x="0" y="166751"/>
                  </a:lnTo>
                  <a:moveTo>
                    <a:pt x="12700" y="166751"/>
                  </a:moveTo>
                  <a:lnTo>
                    <a:pt x="12700" y="647827"/>
                  </a:lnTo>
                  <a:lnTo>
                    <a:pt x="6350" y="647827"/>
                  </a:lnTo>
                  <a:lnTo>
                    <a:pt x="12700" y="647827"/>
                  </a:lnTo>
                  <a:cubicBezTo>
                    <a:pt x="12700" y="732917"/>
                    <a:pt x="81661" y="801878"/>
                    <a:pt x="166751" y="801878"/>
                  </a:cubicBezTo>
                  <a:lnTo>
                    <a:pt x="647827" y="801878"/>
                  </a:lnTo>
                  <a:cubicBezTo>
                    <a:pt x="732917" y="801878"/>
                    <a:pt x="801878" y="732917"/>
                    <a:pt x="801878" y="647827"/>
                  </a:cubicBezTo>
                  <a:lnTo>
                    <a:pt x="801878" y="166751"/>
                  </a:lnTo>
                  <a:lnTo>
                    <a:pt x="808228" y="166751"/>
                  </a:lnTo>
                  <a:lnTo>
                    <a:pt x="801878" y="166751"/>
                  </a:lnTo>
                  <a:cubicBezTo>
                    <a:pt x="801878" y="81661"/>
                    <a:pt x="732917" y="12700"/>
                    <a:pt x="647827" y="12700"/>
                  </a:cubicBezTo>
                  <a:lnTo>
                    <a:pt x="166751" y="12700"/>
                  </a:lnTo>
                  <a:lnTo>
                    <a:pt x="166751" y="6350"/>
                  </a:lnTo>
                  <a:lnTo>
                    <a:pt x="166751" y="12700"/>
                  </a:lnTo>
                  <a:cubicBezTo>
                    <a:pt x="81661" y="12700"/>
                    <a:pt x="12700" y="81661"/>
                    <a:pt x="12700" y="166751"/>
                  </a:cubicBezTo>
                  <a:close/>
                </a:path>
              </a:pathLst>
            </a:custGeom>
            <a:solidFill>
              <a:srgbClr val="414A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3" name="Google Shape;263;p10"/>
          <p:cNvSpPr txBox="1"/>
          <p:nvPr/>
        </p:nvSpPr>
        <p:spPr>
          <a:xfrm>
            <a:off x="1302604" y="2469386"/>
            <a:ext cx="1071" cy="428864"/>
          </a:xfrm>
          <a:prstGeom prst="rect">
            <a:avLst/>
          </a:prstGeom>
          <a:noFill/>
          <a:ln>
            <a:noFill/>
          </a:ln>
        </p:spPr>
        <p:txBody>
          <a:bodyPr spcFirstLastPara="1" wrap="square" lIns="0" tIns="0" rIns="0" bIns="0" anchor="t" anchorCtr="0">
            <a:spAutoFit/>
          </a:bodyPr>
          <a:lstStyle/>
          <a:p>
            <a:pPr marL="0" marR="0" lvl="0" indent="0" algn="ctr" rtl="0">
              <a:lnSpc>
                <a:spcPct val="125023"/>
              </a:lnSpc>
              <a:spcBef>
                <a:spcPts val="0"/>
              </a:spcBef>
              <a:spcAft>
                <a:spcPts val="0"/>
              </a:spcAft>
              <a:buNone/>
            </a:pPr>
            <a:r>
              <a:rPr lang="en-US" sz="3157" b="0" i="0" u="none" strike="noStrike" cap="none">
                <a:solidFill>
                  <a:srgbClr val="EBECEF"/>
                </a:solidFill>
                <a:latin typeface="Fraunces"/>
                <a:ea typeface="Fraunces"/>
                <a:cs typeface="Fraunces"/>
                <a:sym typeface="Fraunces"/>
              </a:rPr>
              <a:t>1</a:t>
            </a:r>
            <a:endParaRPr/>
          </a:p>
        </p:txBody>
      </p:sp>
      <p:sp>
        <p:nvSpPr>
          <p:cNvPr id="264" name="Google Shape;264;p10"/>
          <p:cNvSpPr txBox="1"/>
          <p:nvPr/>
        </p:nvSpPr>
        <p:spPr>
          <a:xfrm>
            <a:off x="1962656" y="2520731"/>
            <a:ext cx="3489007" cy="335696"/>
          </a:xfrm>
          <a:prstGeom prst="rect">
            <a:avLst/>
          </a:prstGeom>
          <a:noFill/>
          <a:ln>
            <a:noFill/>
          </a:ln>
        </p:spPr>
        <p:txBody>
          <a:bodyPr spcFirstLastPara="1" wrap="square" lIns="0" tIns="0" rIns="0" bIns="0" anchor="t" anchorCtr="0">
            <a:spAutoFit/>
          </a:bodyPr>
          <a:lstStyle/>
          <a:p>
            <a:pPr marL="0" marR="0" lvl="0" indent="0" algn="l" rtl="0">
              <a:lnSpc>
                <a:spcPct val="124971"/>
              </a:lnSpc>
              <a:spcBef>
                <a:spcPts val="0"/>
              </a:spcBef>
              <a:spcAft>
                <a:spcPts val="0"/>
              </a:spcAft>
              <a:buNone/>
            </a:pPr>
            <a:r>
              <a:rPr lang="en-US" sz="2631" b="0" i="0" u="none" strike="noStrike" cap="none">
                <a:solidFill>
                  <a:srgbClr val="EBECEF"/>
                </a:solidFill>
                <a:latin typeface="Fraunces"/>
                <a:ea typeface="Fraunces"/>
                <a:cs typeface="Fraunces"/>
                <a:sym typeface="Fraunces"/>
              </a:rPr>
              <a:t>Explore Collaborations</a:t>
            </a:r>
            <a:endParaRPr/>
          </a:p>
        </p:txBody>
      </p:sp>
      <p:sp>
        <p:nvSpPr>
          <p:cNvPr id="265" name="Google Shape;265;p10"/>
          <p:cNvSpPr txBox="1"/>
          <p:nvPr/>
        </p:nvSpPr>
        <p:spPr>
          <a:xfrm>
            <a:off x="1962656" y="3450014"/>
            <a:ext cx="4670256" cy="3414951"/>
          </a:xfrm>
          <a:prstGeom prst="rect">
            <a:avLst/>
          </a:prstGeom>
          <a:noFill/>
          <a:ln>
            <a:noFill/>
          </a:ln>
        </p:spPr>
        <p:txBody>
          <a:bodyPr spcFirstLastPara="1" wrap="square" lIns="0" tIns="0" rIns="0" bIns="0" anchor="t" anchorCtr="0">
            <a:spAutoFit/>
          </a:bodyPr>
          <a:lstStyle/>
          <a:p>
            <a:pPr marL="0" marR="0" lvl="0" indent="0" algn="l" rtl="0">
              <a:lnSpc>
                <a:spcPct val="160076"/>
              </a:lnSpc>
              <a:spcBef>
                <a:spcPts val="0"/>
              </a:spcBef>
              <a:spcAft>
                <a:spcPts val="0"/>
              </a:spcAft>
              <a:buNone/>
            </a:pPr>
            <a:r>
              <a:rPr lang="en-US" sz="2104" b="0" i="0" u="none" strike="noStrike" cap="none">
                <a:solidFill>
                  <a:srgbClr val="EBECEF"/>
                </a:solidFill>
                <a:latin typeface="Arimo"/>
                <a:ea typeface="Arimo"/>
                <a:cs typeface="Arimo"/>
                <a:sym typeface="Arimo"/>
              </a:rPr>
              <a:t>Seek potential partnerships to deploy the AI segregation system on a larger scale. Collaborate with organizations, waste management companies, and technology providers to expand the implementation and impact of the system.</a:t>
            </a:r>
            <a:endParaRPr/>
          </a:p>
        </p:txBody>
      </p:sp>
      <p:grpSp>
        <p:nvGrpSpPr>
          <p:cNvPr id="266" name="Google Shape;266;p10"/>
          <p:cNvGrpSpPr/>
          <p:nvPr/>
        </p:nvGrpSpPr>
        <p:grpSpPr>
          <a:xfrm>
            <a:off x="6986885" y="2387948"/>
            <a:ext cx="610933" cy="610933"/>
            <a:chOff x="0" y="0"/>
            <a:chExt cx="814578" cy="814578"/>
          </a:xfrm>
        </p:grpSpPr>
        <p:sp>
          <p:nvSpPr>
            <p:cNvPr id="267" name="Google Shape;267;p10"/>
            <p:cNvSpPr/>
            <p:nvPr/>
          </p:nvSpPr>
          <p:spPr>
            <a:xfrm>
              <a:off x="6350" y="6350"/>
              <a:ext cx="801878" cy="801878"/>
            </a:xfrm>
            <a:custGeom>
              <a:avLst/>
              <a:gdLst/>
              <a:ahLst/>
              <a:cxnLst/>
              <a:rect l="l" t="t" r="r" b="b"/>
              <a:pathLst>
                <a:path w="801878" h="801878" extrusionOk="0">
                  <a:moveTo>
                    <a:pt x="0" y="160401"/>
                  </a:moveTo>
                  <a:cubicBezTo>
                    <a:pt x="0" y="71755"/>
                    <a:pt x="71755" y="0"/>
                    <a:pt x="160401" y="0"/>
                  </a:cubicBezTo>
                  <a:lnTo>
                    <a:pt x="641477" y="0"/>
                  </a:lnTo>
                  <a:cubicBezTo>
                    <a:pt x="730123" y="0"/>
                    <a:pt x="801878" y="71755"/>
                    <a:pt x="801878" y="160401"/>
                  </a:cubicBezTo>
                  <a:lnTo>
                    <a:pt x="801878" y="641477"/>
                  </a:lnTo>
                  <a:cubicBezTo>
                    <a:pt x="801878" y="730123"/>
                    <a:pt x="730123" y="801878"/>
                    <a:pt x="641477" y="801878"/>
                  </a:cubicBezTo>
                  <a:lnTo>
                    <a:pt x="160401" y="801878"/>
                  </a:lnTo>
                  <a:cubicBezTo>
                    <a:pt x="71755" y="801878"/>
                    <a:pt x="0" y="730123"/>
                    <a:pt x="0" y="641477"/>
                  </a:cubicBezTo>
                  <a:close/>
                </a:path>
              </a:pathLst>
            </a:custGeom>
            <a:solidFill>
              <a:srgbClr val="2831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0"/>
            <p:cNvSpPr/>
            <p:nvPr/>
          </p:nvSpPr>
          <p:spPr>
            <a:xfrm>
              <a:off x="0" y="0"/>
              <a:ext cx="814578" cy="814578"/>
            </a:xfrm>
            <a:custGeom>
              <a:avLst/>
              <a:gdLst/>
              <a:ahLst/>
              <a:cxnLst/>
              <a:rect l="l" t="t" r="r" b="b"/>
              <a:pathLst>
                <a:path w="814578" h="814578" extrusionOk="0">
                  <a:moveTo>
                    <a:pt x="0" y="166751"/>
                  </a:moveTo>
                  <a:cubicBezTo>
                    <a:pt x="0" y="74676"/>
                    <a:pt x="74676" y="0"/>
                    <a:pt x="166751" y="0"/>
                  </a:cubicBezTo>
                  <a:lnTo>
                    <a:pt x="647827" y="0"/>
                  </a:lnTo>
                  <a:lnTo>
                    <a:pt x="647827" y="6350"/>
                  </a:lnTo>
                  <a:lnTo>
                    <a:pt x="647827" y="0"/>
                  </a:lnTo>
                  <a:lnTo>
                    <a:pt x="647827" y="6350"/>
                  </a:lnTo>
                  <a:lnTo>
                    <a:pt x="647827" y="0"/>
                  </a:lnTo>
                  <a:cubicBezTo>
                    <a:pt x="739902" y="0"/>
                    <a:pt x="814578" y="74676"/>
                    <a:pt x="814578" y="166751"/>
                  </a:cubicBezTo>
                  <a:lnTo>
                    <a:pt x="814578" y="647827"/>
                  </a:lnTo>
                  <a:lnTo>
                    <a:pt x="808228" y="647827"/>
                  </a:lnTo>
                  <a:lnTo>
                    <a:pt x="814578" y="647827"/>
                  </a:lnTo>
                  <a:cubicBezTo>
                    <a:pt x="814578" y="739902"/>
                    <a:pt x="739902" y="814578"/>
                    <a:pt x="647827" y="814578"/>
                  </a:cubicBezTo>
                  <a:lnTo>
                    <a:pt x="647827" y="808228"/>
                  </a:lnTo>
                  <a:lnTo>
                    <a:pt x="647827" y="814578"/>
                  </a:lnTo>
                  <a:lnTo>
                    <a:pt x="166751" y="814578"/>
                  </a:lnTo>
                  <a:lnTo>
                    <a:pt x="166751" y="808228"/>
                  </a:lnTo>
                  <a:lnTo>
                    <a:pt x="166751" y="814578"/>
                  </a:lnTo>
                  <a:cubicBezTo>
                    <a:pt x="74676" y="814578"/>
                    <a:pt x="0" y="739902"/>
                    <a:pt x="0" y="647827"/>
                  </a:cubicBezTo>
                  <a:lnTo>
                    <a:pt x="0" y="166751"/>
                  </a:lnTo>
                  <a:lnTo>
                    <a:pt x="6350" y="166751"/>
                  </a:lnTo>
                  <a:lnTo>
                    <a:pt x="0" y="166751"/>
                  </a:lnTo>
                  <a:moveTo>
                    <a:pt x="12700" y="166751"/>
                  </a:moveTo>
                  <a:lnTo>
                    <a:pt x="12700" y="647827"/>
                  </a:lnTo>
                  <a:lnTo>
                    <a:pt x="6350" y="647827"/>
                  </a:lnTo>
                  <a:lnTo>
                    <a:pt x="12700" y="647827"/>
                  </a:lnTo>
                  <a:cubicBezTo>
                    <a:pt x="12700" y="732917"/>
                    <a:pt x="81661" y="801878"/>
                    <a:pt x="166751" y="801878"/>
                  </a:cubicBezTo>
                  <a:lnTo>
                    <a:pt x="647827" y="801878"/>
                  </a:lnTo>
                  <a:cubicBezTo>
                    <a:pt x="732917" y="801878"/>
                    <a:pt x="801878" y="732917"/>
                    <a:pt x="801878" y="647827"/>
                  </a:cubicBezTo>
                  <a:lnTo>
                    <a:pt x="801878" y="166751"/>
                  </a:lnTo>
                  <a:lnTo>
                    <a:pt x="808228" y="166751"/>
                  </a:lnTo>
                  <a:lnTo>
                    <a:pt x="801878" y="166751"/>
                  </a:lnTo>
                  <a:cubicBezTo>
                    <a:pt x="801878" y="81661"/>
                    <a:pt x="732917" y="12700"/>
                    <a:pt x="647827" y="12700"/>
                  </a:cubicBezTo>
                  <a:lnTo>
                    <a:pt x="166751" y="12700"/>
                  </a:lnTo>
                  <a:lnTo>
                    <a:pt x="166751" y="6350"/>
                  </a:lnTo>
                  <a:lnTo>
                    <a:pt x="166751" y="12700"/>
                  </a:lnTo>
                  <a:cubicBezTo>
                    <a:pt x="81661" y="12700"/>
                    <a:pt x="12700" y="81661"/>
                    <a:pt x="12700" y="166751"/>
                  </a:cubicBezTo>
                  <a:close/>
                </a:path>
              </a:pathLst>
            </a:custGeom>
            <a:solidFill>
              <a:srgbClr val="414A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9" name="Google Shape;269;p10"/>
          <p:cNvSpPr txBox="1"/>
          <p:nvPr/>
        </p:nvSpPr>
        <p:spPr>
          <a:xfrm>
            <a:off x="7262276" y="2469386"/>
            <a:ext cx="60156" cy="428864"/>
          </a:xfrm>
          <a:prstGeom prst="rect">
            <a:avLst/>
          </a:prstGeom>
          <a:noFill/>
          <a:ln>
            <a:noFill/>
          </a:ln>
        </p:spPr>
        <p:txBody>
          <a:bodyPr spcFirstLastPara="1" wrap="square" lIns="0" tIns="0" rIns="0" bIns="0" anchor="t" anchorCtr="0">
            <a:spAutoFit/>
          </a:bodyPr>
          <a:lstStyle/>
          <a:p>
            <a:pPr marL="0" marR="0" lvl="0" indent="0" algn="ctr" rtl="0">
              <a:lnSpc>
                <a:spcPct val="125023"/>
              </a:lnSpc>
              <a:spcBef>
                <a:spcPts val="0"/>
              </a:spcBef>
              <a:spcAft>
                <a:spcPts val="0"/>
              </a:spcAft>
              <a:buNone/>
            </a:pPr>
            <a:r>
              <a:rPr lang="en-US" sz="3157" b="0" i="0" u="none" strike="noStrike" cap="none">
                <a:solidFill>
                  <a:srgbClr val="EBECEF"/>
                </a:solidFill>
                <a:latin typeface="Fraunces"/>
                <a:ea typeface="Fraunces"/>
                <a:cs typeface="Fraunces"/>
                <a:sym typeface="Fraunces"/>
              </a:rPr>
              <a:t>2</a:t>
            </a:r>
            <a:endParaRPr/>
          </a:p>
        </p:txBody>
      </p:sp>
      <p:sp>
        <p:nvSpPr>
          <p:cNvPr id="270" name="Google Shape;270;p10"/>
          <p:cNvSpPr txBox="1"/>
          <p:nvPr/>
        </p:nvSpPr>
        <p:spPr>
          <a:xfrm>
            <a:off x="7951798" y="2520731"/>
            <a:ext cx="3158906" cy="335696"/>
          </a:xfrm>
          <a:prstGeom prst="rect">
            <a:avLst/>
          </a:prstGeom>
          <a:noFill/>
          <a:ln>
            <a:noFill/>
          </a:ln>
        </p:spPr>
        <p:txBody>
          <a:bodyPr spcFirstLastPara="1" wrap="square" lIns="0" tIns="0" rIns="0" bIns="0" anchor="t" anchorCtr="0">
            <a:spAutoFit/>
          </a:bodyPr>
          <a:lstStyle/>
          <a:p>
            <a:pPr marL="0" marR="0" lvl="0" indent="0" algn="l" rtl="0">
              <a:lnSpc>
                <a:spcPct val="124971"/>
              </a:lnSpc>
              <a:spcBef>
                <a:spcPts val="0"/>
              </a:spcBef>
              <a:spcAft>
                <a:spcPts val="0"/>
              </a:spcAft>
              <a:buNone/>
            </a:pPr>
            <a:r>
              <a:rPr lang="en-US" sz="2631" b="0" i="0" u="none" strike="noStrike" cap="none">
                <a:solidFill>
                  <a:srgbClr val="EBECEF"/>
                </a:solidFill>
                <a:latin typeface="Fraunces"/>
                <a:ea typeface="Fraunces"/>
                <a:cs typeface="Fraunces"/>
                <a:sym typeface="Fraunces"/>
              </a:rPr>
              <a:t>Promote Awareness</a:t>
            </a:r>
            <a:endParaRPr/>
          </a:p>
        </p:txBody>
      </p:sp>
      <p:sp>
        <p:nvSpPr>
          <p:cNvPr id="271" name="Google Shape;271;p10"/>
          <p:cNvSpPr txBox="1"/>
          <p:nvPr/>
        </p:nvSpPr>
        <p:spPr>
          <a:xfrm>
            <a:off x="7951798" y="3450014"/>
            <a:ext cx="4670256" cy="3842534"/>
          </a:xfrm>
          <a:prstGeom prst="rect">
            <a:avLst/>
          </a:prstGeom>
          <a:noFill/>
          <a:ln>
            <a:noFill/>
          </a:ln>
        </p:spPr>
        <p:txBody>
          <a:bodyPr spcFirstLastPara="1" wrap="square" lIns="0" tIns="0" rIns="0" bIns="0" anchor="t" anchorCtr="0">
            <a:spAutoFit/>
          </a:bodyPr>
          <a:lstStyle/>
          <a:p>
            <a:pPr marL="0" marR="0" lvl="0" indent="0" algn="l" rtl="0">
              <a:lnSpc>
                <a:spcPct val="160076"/>
              </a:lnSpc>
              <a:spcBef>
                <a:spcPts val="0"/>
              </a:spcBef>
              <a:spcAft>
                <a:spcPts val="0"/>
              </a:spcAft>
              <a:buNone/>
            </a:pPr>
            <a:r>
              <a:rPr lang="en-US" sz="2104" b="0" i="0" u="none" strike="noStrike" cap="none">
                <a:solidFill>
                  <a:srgbClr val="EBECEF"/>
                </a:solidFill>
                <a:latin typeface="Arimo"/>
                <a:ea typeface="Arimo"/>
                <a:cs typeface="Arimo"/>
                <a:sym typeface="Arimo"/>
              </a:rPr>
              <a:t>Educate communities about the benefits of environmentally conscious waste management. Conduct awareness campaigns, workshops, and educational programs to increase public understanding and participation in responsible waste segregation practices.</a:t>
            </a:r>
            <a:endParaRPr/>
          </a:p>
        </p:txBody>
      </p:sp>
      <p:grpSp>
        <p:nvGrpSpPr>
          <p:cNvPr id="272" name="Google Shape;272;p10"/>
          <p:cNvGrpSpPr/>
          <p:nvPr/>
        </p:nvGrpSpPr>
        <p:grpSpPr>
          <a:xfrm>
            <a:off x="997744" y="7382024"/>
            <a:ext cx="610933" cy="610933"/>
            <a:chOff x="0" y="0"/>
            <a:chExt cx="814578" cy="814578"/>
          </a:xfrm>
        </p:grpSpPr>
        <p:sp>
          <p:nvSpPr>
            <p:cNvPr id="273" name="Google Shape;273;p10"/>
            <p:cNvSpPr/>
            <p:nvPr/>
          </p:nvSpPr>
          <p:spPr>
            <a:xfrm>
              <a:off x="6350" y="6350"/>
              <a:ext cx="801878" cy="801878"/>
            </a:xfrm>
            <a:custGeom>
              <a:avLst/>
              <a:gdLst/>
              <a:ahLst/>
              <a:cxnLst/>
              <a:rect l="l" t="t" r="r" b="b"/>
              <a:pathLst>
                <a:path w="801878" h="801878" extrusionOk="0">
                  <a:moveTo>
                    <a:pt x="0" y="160401"/>
                  </a:moveTo>
                  <a:cubicBezTo>
                    <a:pt x="0" y="71755"/>
                    <a:pt x="71755" y="0"/>
                    <a:pt x="160401" y="0"/>
                  </a:cubicBezTo>
                  <a:lnTo>
                    <a:pt x="641477" y="0"/>
                  </a:lnTo>
                  <a:cubicBezTo>
                    <a:pt x="730123" y="0"/>
                    <a:pt x="801878" y="71755"/>
                    <a:pt x="801878" y="160401"/>
                  </a:cubicBezTo>
                  <a:lnTo>
                    <a:pt x="801878" y="641477"/>
                  </a:lnTo>
                  <a:cubicBezTo>
                    <a:pt x="801878" y="730123"/>
                    <a:pt x="730123" y="801878"/>
                    <a:pt x="641477" y="801878"/>
                  </a:cubicBezTo>
                  <a:lnTo>
                    <a:pt x="160401" y="801878"/>
                  </a:lnTo>
                  <a:cubicBezTo>
                    <a:pt x="71755" y="801878"/>
                    <a:pt x="0" y="730123"/>
                    <a:pt x="0" y="641477"/>
                  </a:cubicBezTo>
                  <a:close/>
                </a:path>
              </a:pathLst>
            </a:custGeom>
            <a:solidFill>
              <a:srgbClr val="2831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0"/>
            <p:cNvSpPr/>
            <p:nvPr/>
          </p:nvSpPr>
          <p:spPr>
            <a:xfrm>
              <a:off x="0" y="0"/>
              <a:ext cx="814578" cy="814578"/>
            </a:xfrm>
            <a:custGeom>
              <a:avLst/>
              <a:gdLst/>
              <a:ahLst/>
              <a:cxnLst/>
              <a:rect l="l" t="t" r="r" b="b"/>
              <a:pathLst>
                <a:path w="814578" h="814578" extrusionOk="0">
                  <a:moveTo>
                    <a:pt x="0" y="166751"/>
                  </a:moveTo>
                  <a:cubicBezTo>
                    <a:pt x="0" y="74676"/>
                    <a:pt x="74676" y="0"/>
                    <a:pt x="166751" y="0"/>
                  </a:cubicBezTo>
                  <a:lnTo>
                    <a:pt x="647827" y="0"/>
                  </a:lnTo>
                  <a:lnTo>
                    <a:pt x="647827" y="6350"/>
                  </a:lnTo>
                  <a:lnTo>
                    <a:pt x="647827" y="0"/>
                  </a:lnTo>
                  <a:lnTo>
                    <a:pt x="647827" y="6350"/>
                  </a:lnTo>
                  <a:lnTo>
                    <a:pt x="647827" y="0"/>
                  </a:lnTo>
                  <a:cubicBezTo>
                    <a:pt x="739902" y="0"/>
                    <a:pt x="814578" y="74676"/>
                    <a:pt x="814578" y="166751"/>
                  </a:cubicBezTo>
                  <a:lnTo>
                    <a:pt x="814578" y="647827"/>
                  </a:lnTo>
                  <a:lnTo>
                    <a:pt x="808228" y="647827"/>
                  </a:lnTo>
                  <a:lnTo>
                    <a:pt x="814578" y="647827"/>
                  </a:lnTo>
                  <a:cubicBezTo>
                    <a:pt x="814578" y="739902"/>
                    <a:pt x="739902" y="814578"/>
                    <a:pt x="647827" y="814578"/>
                  </a:cubicBezTo>
                  <a:lnTo>
                    <a:pt x="647827" y="808228"/>
                  </a:lnTo>
                  <a:lnTo>
                    <a:pt x="647827" y="814578"/>
                  </a:lnTo>
                  <a:lnTo>
                    <a:pt x="166751" y="814578"/>
                  </a:lnTo>
                  <a:lnTo>
                    <a:pt x="166751" y="808228"/>
                  </a:lnTo>
                  <a:lnTo>
                    <a:pt x="166751" y="814578"/>
                  </a:lnTo>
                  <a:cubicBezTo>
                    <a:pt x="74676" y="814578"/>
                    <a:pt x="0" y="739902"/>
                    <a:pt x="0" y="647827"/>
                  </a:cubicBezTo>
                  <a:lnTo>
                    <a:pt x="0" y="166751"/>
                  </a:lnTo>
                  <a:lnTo>
                    <a:pt x="6350" y="166751"/>
                  </a:lnTo>
                  <a:lnTo>
                    <a:pt x="0" y="166751"/>
                  </a:lnTo>
                  <a:moveTo>
                    <a:pt x="12700" y="166751"/>
                  </a:moveTo>
                  <a:lnTo>
                    <a:pt x="12700" y="647827"/>
                  </a:lnTo>
                  <a:lnTo>
                    <a:pt x="6350" y="647827"/>
                  </a:lnTo>
                  <a:lnTo>
                    <a:pt x="12700" y="647827"/>
                  </a:lnTo>
                  <a:cubicBezTo>
                    <a:pt x="12700" y="732917"/>
                    <a:pt x="81661" y="801878"/>
                    <a:pt x="166751" y="801878"/>
                  </a:cubicBezTo>
                  <a:lnTo>
                    <a:pt x="647827" y="801878"/>
                  </a:lnTo>
                  <a:cubicBezTo>
                    <a:pt x="732917" y="801878"/>
                    <a:pt x="801878" y="732917"/>
                    <a:pt x="801878" y="647827"/>
                  </a:cubicBezTo>
                  <a:lnTo>
                    <a:pt x="801878" y="166751"/>
                  </a:lnTo>
                  <a:lnTo>
                    <a:pt x="808228" y="166751"/>
                  </a:lnTo>
                  <a:lnTo>
                    <a:pt x="801878" y="166751"/>
                  </a:lnTo>
                  <a:cubicBezTo>
                    <a:pt x="801878" y="81661"/>
                    <a:pt x="732917" y="12700"/>
                    <a:pt x="647827" y="12700"/>
                  </a:cubicBezTo>
                  <a:lnTo>
                    <a:pt x="166751" y="12700"/>
                  </a:lnTo>
                  <a:lnTo>
                    <a:pt x="166751" y="6350"/>
                  </a:lnTo>
                  <a:lnTo>
                    <a:pt x="166751" y="12700"/>
                  </a:lnTo>
                  <a:cubicBezTo>
                    <a:pt x="81661" y="12700"/>
                    <a:pt x="12700" y="81661"/>
                    <a:pt x="12700" y="166751"/>
                  </a:cubicBezTo>
                  <a:close/>
                </a:path>
              </a:pathLst>
            </a:custGeom>
            <a:solidFill>
              <a:srgbClr val="414A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5" name="Google Shape;275;p10"/>
          <p:cNvSpPr txBox="1"/>
          <p:nvPr/>
        </p:nvSpPr>
        <p:spPr>
          <a:xfrm>
            <a:off x="1283851" y="7463462"/>
            <a:ext cx="38576" cy="428864"/>
          </a:xfrm>
          <a:prstGeom prst="rect">
            <a:avLst/>
          </a:prstGeom>
          <a:noFill/>
          <a:ln>
            <a:noFill/>
          </a:ln>
        </p:spPr>
        <p:txBody>
          <a:bodyPr spcFirstLastPara="1" wrap="square" lIns="0" tIns="0" rIns="0" bIns="0" anchor="t" anchorCtr="0">
            <a:spAutoFit/>
          </a:bodyPr>
          <a:lstStyle/>
          <a:p>
            <a:pPr marL="0" marR="0" lvl="0" indent="0" algn="ctr" rtl="0">
              <a:lnSpc>
                <a:spcPct val="125023"/>
              </a:lnSpc>
              <a:spcBef>
                <a:spcPts val="0"/>
              </a:spcBef>
              <a:spcAft>
                <a:spcPts val="0"/>
              </a:spcAft>
              <a:buNone/>
            </a:pPr>
            <a:r>
              <a:rPr lang="en-US" sz="3157" b="0" i="0" u="none" strike="noStrike" cap="none">
                <a:solidFill>
                  <a:srgbClr val="EBECEF"/>
                </a:solidFill>
                <a:latin typeface="Fraunces"/>
                <a:ea typeface="Fraunces"/>
                <a:cs typeface="Fraunces"/>
                <a:sym typeface="Fraunces"/>
              </a:rPr>
              <a:t>3</a:t>
            </a:r>
            <a:endParaRPr/>
          </a:p>
        </p:txBody>
      </p:sp>
      <p:sp>
        <p:nvSpPr>
          <p:cNvPr id="276" name="Google Shape;276;p10"/>
          <p:cNvSpPr txBox="1"/>
          <p:nvPr/>
        </p:nvSpPr>
        <p:spPr>
          <a:xfrm>
            <a:off x="1962656" y="7514809"/>
            <a:ext cx="3787259" cy="335696"/>
          </a:xfrm>
          <a:prstGeom prst="rect">
            <a:avLst/>
          </a:prstGeom>
          <a:noFill/>
          <a:ln>
            <a:noFill/>
          </a:ln>
        </p:spPr>
        <p:txBody>
          <a:bodyPr spcFirstLastPara="1" wrap="square" lIns="0" tIns="0" rIns="0" bIns="0" anchor="t" anchorCtr="0">
            <a:spAutoFit/>
          </a:bodyPr>
          <a:lstStyle/>
          <a:p>
            <a:pPr marL="0" marR="0" lvl="0" indent="0" algn="l" rtl="0">
              <a:lnSpc>
                <a:spcPct val="124971"/>
              </a:lnSpc>
              <a:spcBef>
                <a:spcPts val="0"/>
              </a:spcBef>
              <a:spcAft>
                <a:spcPts val="0"/>
              </a:spcAft>
              <a:buNone/>
            </a:pPr>
            <a:r>
              <a:rPr lang="en-US" sz="2631" b="0" i="0" u="none" strike="noStrike" cap="none">
                <a:solidFill>
                  <a:srgbClr val="EBECEF"/>
                </a:solidFill>
                <a:latin typeface="Fraunces"/>
                <a:ea typeface="Fraunces"/>
                <a:cs typeface="Fraunces"/>
                <a:sym typeface="Fraunces"/>
              </a:rPr>
              <a:t>Community Engagement</a:t>
            </a:r>
            <a:endParaRPr/>
          </a:p>
        </p:txBody>
      </p:sp>
      <p:sp>
        <p:nvSpPr>
          <p:cNvPr id="277" name="Google Shape;277;p10"/>
          <p:cNvSpPr txBox="1"/>
          <p:nvPr/>
        </p:nvSpPr>
        <p:spPr>
          <a:xfrm>
            <a:off x="1992734" y="8441055"/>
            <a:ext cx="10659398" cy="1277035"/>
          </a:xfrm>
          <a:prstGeom prst="rect">
            <a:avLst/>
          </a:prstGeom>
          <a:noFill/>
          <a:ln>
            <a:noFill/>
          </a:ln>
        </p:spPr>
        <p:txBody>
          <a:bodyPr spcFirstLastPara="1" wrap="square" lIns="0" tIns="0" rIns="0" bIns="0" anchor="t" anchorCtr="0">
            <a:spAutoFit/>
          </a:bodyPr>
          <a:lstStyle/>
          <a:p>
            <a:pPr marL="0" marR="0" lvl="0" indent="0" algn="l" rtl="0">
              <a:lnSpc>
                <a:spcPct val="160076"/>
              </a:lnSpc>
              <a:spcBef>
                <a:spcPts val="0"/>
              </a:spcBef>
              <a:spcAft>
                <a:spcPts val="0"/>
              </a:spcAft>
              <a:buNone/>
            </a:pPr>
            <a:r>
              <a:rPr lang="en-US" sz="2104" b="0" i="0" u="none" strike="noStrike" cap="none">
                <a:solidFill>
                  <a:srgbClr val="EBECEF"/>
                </a:solidFill>
                <a:latin typeface="Arimo"/>
                <a:ea typeface="Arimo"/>
                <a:cs typeface="Arimo"/>
                <a:sym typeface="Arimo"/>
              </a:rPr>
              <a:t>Engage with local communities to foster a sense of ownership and involvement in waste segregation initiatives. Organize community events, volunteering activities, and interactive sessions to encourage active participation and collaboration.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g2be2ce19ba8_0_3"/>
          <p:cNvSpPr txBox="1"/>
          <p:nvPr/>
        </p:nvSpPr>
        <p:spPr>
          <a:xfrm>
            <a:off x="7951798" y="3450014"/>
            <a:ext cx="4670400" cy="4144724"/>
          </a:xfrm>
          <a:prstGeom prst="rect">
            <a:avLst/>
          </a:prstGeom>
          <a:noFill/>
          <a:ln>
            <a:noFill/>
          </a:ln>
        </p:spPr>
        <p:txBody>
          <a:bodyPr spcFirstLastPara="1" wrap="square" lIns="0" tIns="0" rIns="0" bIns="0" anchor="t" anchorCtr="0">
            <a:spAutoFit/>
          </a:bodyPr>
          <a:lstStyle/>
          <a:p>
            <a:pPr marL="0" marR="0" lvl="0" indent="0" algn="l" rtl="0">
              <a:lnSpc>
                <a:spcPct val="160076"/>
              </a:lnSpc>
              <a:spcBef>
                <a:spcPts val="0"/>
              </a:spcBef>
              <a:spcAft>
                <a:spcPts val="0"/>
              </a:spcAft>
              <a:buNone/>
            </a:pPr>
            <a:r>
              <a:rPr lang="en-US" sz="2104" b="0" i="0" u="none" strike="noStrike" cap="none">
                <a:solidFill>
                  <a:schemeClr val="bg1">
                    <a:lumMod val="95000"/>
                  </a:schemeClr>
                </a:solidFill>
                <a:latin typeface="Arimo"/>
                <a:ea typeface="Arimo"/>
                <a:cs typeface="Arimo"/>
                <a:sym typeface="Arimo"/>
              </a:rPr>
              <a:t>Educate communiabout the benefits of environmentally conscious waste management. Conduct awareness campaigns, workshops, and educational programs to increase public understanding and participation in responsible waste segregation practices.</a:t>
            </a:r>
            <a:endParaRPr>
              <a:solidFill>
                <a:schemeClr val="bg1">
                  <a:lumMod val="95000"/>
                </a:schemeClr>
              </a:solidFill>
            </a:endParaRPr>
          </a:p>
        </p:txBody>
      </p:sp>
      <p:sp>
        <p:nvSpPr>
          <p:cNvPr id="283" name="Google Shape;283;g2be2ce19ba8_0_3"/>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A8AFCC"/>
          </a:solidFill>
          <a:ln>
            <a:noFill/>
          </a:ln>
        </p:spPr>
      </p:sp>
      <p:sp>
        <p:nvSpPr>
          <p:cNvPr id="284" name="Google Shape;284;g2be2ce19ba8_0_3"/>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080E26"/>
          </a:solidFill>
          <a:ln>
            <a:noFill/>
          </a:ln>
        </p:spPr>
        <p:txBody>
          <a:bodyPr/>
          <a:lstStyle/>
          <a:p>
            <a:pPr marL="285750" indent="-285750">
              <a:buFont typeface="Arial" panose="020B0604020202020204" pitchFamily="34" charset="0"/>
              <a:buChar char="•"/>
            </a:pPr>
            <a:endParaRPr lang="en-IN" dirty="0">
              <a:solidFill>
                <a:schemeClr val="bg1">
                  <a:lumMod val="95000"/>
                </a:schemeClr>
              </a:solidFill>
            </a:endParaRPr>
          </a:p>
        </p:txBody>
      </p:sp>
      <p:sp>
        <p:nvSpPr>
          <p:cNvPr id="285" name="Google Shape;285;g2be2ce19ba8_0_3"/>
          <p:cNvSpPr txBox="1"/>
          <p:nvPr/>
        </p:nvSpPr>
        <p:spPr>
          <a:xfrm>
            <a:off x="1093946" y="974259"/>
            <a:ext cx="6500700" cy="1012200"/>
          </a:xfrm>
          <a:prstGeom prst="rect">
            <a:avLst/>
          </a:prstGeom>
          <a:noFill/>
          <a:ln>
            <a:noFill/>
          </a:ln>
        </p:spPr>
        <p:txBody>
          <a:bodyPr spcFirstLastPara="1" wrap="square" lIns="0" tIns="0" rIns="0" bIns="0" anchor="t" anchorCtr="0">
            <a:spAutoFit/>
          </a:bodyPr>
          <a:lstStyle/>
          <a:p>
            <a:pPr marL="0" marR="0" lvl="0" indent="0" algn="l" rtl="0">
              <a:lnSpc>
                <a:spcPct val="125009"/>
              </a:lnSpc>
              <a:spcBef>
                <a:spcPts val="0"/>
              </a:spcBef>
              <a:spcAft>
                <a:spcPts val="0"/>
              </a:spcAft>
              <a:buNone/>
            </a:pPr>
            <a:r>
              <a:rPr lang="en-US" sz="5262" dirty="0">
                <a:solidFill>
                  <a:schemeClr val="bg1">
                    <a:lumMod val="95000"/>
                  </a:schemeClr>
                </a:solidFill>
                <a:latin typeface="Fraunces"/>
                <a:ea typeface="Fraunces"/>
                <a:cs typeface="Fraunces"/>
                <a:sym typeface="Fraunces"/>
              </a:rPr>
              <a:t>Team Member</a:t>
            </a:r>
            <a:endParaRPr dirty="0">
              <a:solidFill>
                <a:schemeClr val="bg1">
                  <a:lumMod val="95000"/>
                </a:schemeClr>
              </a:solidFill>
            </a:endParaRPr>
          </a:p>
        </p:txBody>
      </p:sp>
      <p:sp>
        <p:nvSpPr>
          <p:cNvPr id="286" name="Google Shape;286;g2be2ce19ba8_0_3"/>
          <p:cNvSpPr txBox="1"/>
          <p:nvPr/>
        </p:nvSpPr>
        <p:spPr>
          <a:xfrm>
            <a:off x="7262276" y="2469386"/>
            <a:ext cx="60300" cy="269304"/>
          </a:xfrm>
          <a:prstGeom prst="rect">
            <a:avLst/>
          </a:prstGeom>
          <a:noFill/>
          <a:ln>
            <a:noFill/>
          </a:ln>
        </p:spPr>
        <p:txBody>
          <a:bodyPr spcFirstLastPara="1" wrap="square" lIns="0" tIns="0" rIns="0" bIns="0" anchor="t" anchorCtr="0">
            <a:spAutoFit/>
          </a:bodyPr>
          <a:lstStyle/>
          <a:p>
            <a:pPr marL="0" marR="0" lvl="0" indent="0" algn="ctr" rtl="0">
              <a:lnSpc>
                <a:spcPct val="125023"/>
              </a:lnSpc>
              <a:spcBef>
                <a:spcPts val="0"/>
              </a:spcBef>
              <a:spcAft>
                <a:spcPts val="0"/>
              </a:spcAft>
              <a:buNone/>
            </a:pPr>
            <a:endParaRPr>
              <a:solidFill>
                <a:schemeClr val="bg1">
                  <a:lumMod val="95000"/>
                </a:schemeClr>
              </a:solidFill>
            </a:endParaRPr>
          </a:p>
        </p:txBody>
      </p:sp>
      <p:sp>
        <p:nvSpPr>
          <p:cNvPr id="287" name="Google Shape;287;g2be2ce19ba8_0_3"/>
          <p:cNvSpPr txBox="1"/>
          <p:nvPr/>
        </p:nvSpPr>
        <p:spPr>
          <a:xfrm>
            <a:off x="1962656" y="7514809"/>
            <a:ext cx="3787200" cy="269304"/>
          </a:xfrm>
          <a:prstGeom prst="rect">
            <a:avLst/>
          </a:prstGeom>
          <a:noFill/>
          <a:ln>
            <a:noFill/>
          </a:ln>
        </p:spPr>
        <p:txBody>
          <a:bodyPr spcFirstLastPara="1" wrap="square" lIns="0" tIns="0" rIns="0" bIns="0" anchor="t" anchorCtr="0">
            <a:spAutoFit/>
          </a:bodyPr>
          <a:lstStyle/>
          <a:p>
            <a:pPr marL="0" marR="0" lvl="0" indent="0" algn="l" rtl="0">
              <a:lnSpc>
                <a:spcPct val="124971"/>
              </a:lnSpc>
              <a:spcBef>
                <a:spcPts val="0"/>
              </a:spcBef>
              <a:spcAft>
                <a:spcPts val="0"/>
              </a:spcAft>
              <a:buNone/>
            </a:pPr>
            <a:endParaRPr>
              <a:solidFill>
                <a:schemeClr val="bg1">
                  <a:lumMod val="95000"/>
                </a:schemeClr>
              </a:solidFill>
            </a:endParaRPr>
          </a:p>
        </p:txBody>
      </p:sp>
      <p:sp>
        <p:nvSpPr>
          <p:cNvPr id="3" name="TextBox 2">
            <a:extLst>
              <a:ext uri="{FF2B5EF4-FFF2-40B4-BE49-F238E27FC236}">
                <a16:creationId xmlns:a16="http://schemas.microsoft.com/office/drawing/2014/main" id="{692E89CA-6478-45B5-1ACA-1BCD43137BC1}"/>
              </a:ext>
            </a:extLst>
          </p:cNvPr>
          <p:cNvSpPr txBox="1"/>
          <p:nvPr/>
        </p:nvSpPr>
        <p:spPr>
          <a:xfrm>
            <a:off x="1312606" y="2684786"/>
            <a:ext cx="10809262" cy="1938992"/>
          </a:xfrm>
          <a:prstGeom prst="rect">
            <a:avLst/>
          </a:prstGeom>
          <a:noFill/>
        </p:spPr>
        <p:txBody>
          <a:bodyPr wrap="square" rtlCol="0">
            <a:spAutoFit/>
          </a:bodyPr>
          <a:lstStyle/>
          <a:p>
            <a:r>
              <a:rPr lang="en-IN" sz="4000" dirty="0">
                <a:solidFill>
                  <a:schemeClr val="bg1">
                    <a:lumMod val="95000"/>
                  </a:schemeClr>
                </a:solidFill>
              </a:rPr>
              <a:t>1. Yash Kumar </a:t>
            </a:r>
            <a:r>
              <a:rPr lang="en-IN" sz="4000" dirty="0" err="1">
                <a:solidFill>
                  <a:schemeClr val="bg1">
                    <a:lumMod val="95000"/>
                  </a:schemeClr>
                </a:solidFill>
              </a:rPr>
              <a:t>Sriwastav</a:t>
            </a:r>
            <a:r>
              <a:rPr lang="en-IN" sz="4000" dirty="0">
                <a:solidFill>
                  <a:schemeClr val="bg1">
                    <a:lumMod val="95000"/>
                  </a:schemeClr>
                </a:solidFill>
              </a:rPr>
              <a:t> - BTCS B - 2260468 </a:t>
            </a:r>
          </a:p>
          <a:p>
            <a:r>
              <a:rPr lang="en-IN" sz="4000" dirty="0">
                <a:solidFill>
                  <a:schemeClr val="bg1">
                    <a:lumMod val="95000"/>
                  </a:schemeClr>
                </a:solidFill>
              </a:rPr>
              <a:t>2. Parth Lalit Limbani – 5 BTCS A - 2260412</a:t>
            </a:r>
          </a:p>
          <a:p>
            <a:r>
              <a:rPr lang="en-IN" sz="4000" dirty="0">
                <a:solidFill>
                  <a:schemeClr val="bg1">
                    <a:lumMod val="95000"/>
                  </a:schemeClr>
                </a:solidFill>
              </a:rPr>
              <a:t>3. Adarsh Ramani – 5 BTIT - 2261001</a:t>
            </a:r>
          </a:p>
        </p:txBody>
      </p:sp>
      <p:sp>
        <p:nvSpPr>
          <p:cNvPr id="4" name="TextBox 3">
            <a:extLst>
              <a:ext uri="{FF2B5EF4-FFF2-40B4-BE49-F238E27FC236}">
                <a16:creationId xmlns:a16="http://schemas.microsoft.com/office/drawing/2014/main" id="{A0FB6002-A216-F662-D212-EBE64206FE4A}"/>
              </a:ext>
            </a:extLst>
          </p:cNvPr>
          <p:cNvSpPr txBox="1"/>
          <p:nvPr/>
        </p:nvSpPr>
        <p:spPr>
          <a:xfrm>
            <a:off x="339213" y="5796116"/>
            <a:ext cx="17653819" cy="1569660"/>
          </a:xfrm>
          <a:prstGeom prst="rect">
            <a:avLst/>
          </a:prstGeom>
          <a:noFill/>
        </p:spPr>
        <p:txBody>
          <a:bodyPr wrap="square" rtlCol="0">
            <a:spAutoFit/>
          </a:bodyPr>
          <a:lstStyle/>
          <a:p>
            <a:pPr algn="ctr"/>
            <a:r>
              <a:rPr lang="en-IN" sz="9600" dirty="0">
                <a:solidFill>
                  <a:schemeClr val="bg1">
                    <a:lumMod val="95000"/>
                  </a:schemeClr>
                </a:solidFill>
                <a:latin typeface="Castellar" panose="020A0402060406010301" pitchFamily="18" charset="0"/>
              </a:rPr>
              <a:t>Thank You</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868</Words>
  <Application>Microsoft Office PowerPoint</Application>
  <PresentationFormat>Custom</PresentationFormat>
  <Paragraphs>84</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Arimo</vt:lpstr>
      <vt:lpstr>Arial</vt:lpstr>
      <vt:lpstr>Castellar</vt:lpstr>
      <vt:lpstr>Calibri</vt:lpstr>
      <vt:lpstr>Fraunces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Parth Limbani</cp:lastModifiedBy>
  <cp:revision>1</cp:revision>
  <dcterms:created xsi:type="dcterms:W3CDTF">2006-08-16T00:00:00Z</dcterms:created>
  <dcterms:modified xsi:type="dcterms:W3CDTF">2024-09-17T09:02:48Z</dcterms:modified>
</cp:coreProperties>
</file>